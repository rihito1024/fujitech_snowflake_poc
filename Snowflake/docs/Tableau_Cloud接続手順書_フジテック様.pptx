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</p:sldMasterIdLst>
  <p:notesMasterIdLst>
    <p:notesMasterId r:id="rId43"/>
  </p:notesMasterIdLst>
  <p:handoutMasterIdLst>
    <p:handoutMasterId r:id="rId44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グレー" id="{420DD39E-DC20-444C-B001-336675D3BBE5}">
          <p14:sldIdLst>
            <p14:sldId id="10561"/>
            <p14:sldId id="10565"/>
            <p14:sldId id="10577"/>
            <p14:sldId id="10578"/>
            <p14:sldId id="10581"/>
            <p14:sldId id="10594"/>
            <p14:sldId id="10596"/>
            <p14:sldId id="10595"/>
            <p14:sldId id="10591"/>
            <p14:sldId id="10592"/>
            <p14:sldId id="10593"/>
            <p14:sldId id="10570"/>
            <p14:sldId id="10604"/>
            <p14:sldId id="10603"/>
            <p14:sldId id="10574"/>
            <p14:sldId id="10575"/>
          </p14:sldIdLst>
        </p14:section>
        <p14:section name="サンプル" id="{D38249F6-CD1A-4503-BA44-AAD118559019}">
          <p14:sldIdLst>
            <p14:sldId id="10587"/>
            <p14:sldId id="10586"/>
            <p14:sldId id="10588"/>
            <p14:sldId id="10580"/>
            <p14:sldId id="10579"/>
            <p14:sldId id="10590"/>
            <p14:sldId id="10582"/>
            <p14:sldId id="274"/>
            <p14:sldId id="276"/>
            <p14:sldId id="275"/>
            <p14:sldId id="10550"/>
            <p14:sldId id="262"/>
            <p14:sldId id="256"/>
            <p14:sldId id="719"/>
            <p14:sldId id="298"/>
            <p14:sldId id="10547"/>
            <p14:sldId id="10549"/>
            <p14:sldId id="10564"/>
            <p14:sldId id="10552"/>
            <p14:sldId id="10554"/>
            <p14:sldId id="10583"/>
            <p14:sldId id="268"/>
            <p14:sldId id="10584"/>
            <p14:sldId id="1464"/>
            <p14:sldId id="105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5E913B"/>
    <a:srgbClr val="FFE1E1"/>
    <a:srgbClr val="FF8080"/>
    <a:srgbClr val="E6E6E6"/>
    <a:srgbClr val="F4F6F4"/>
    <a:srgbClr val="D9D9D9"/>
    <a:srgbClr val="6FBA2C"/>
    <a:srgbClr val="E9E9E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7410" autoAdjust="0"/>
  </p:normalViewPr>
  <p:slideViewPr>
    <p:cSldViewPr>
      <p:cViewPr varScale="1">
        <p:scale>
          <a:sx n="110" d="100"/>
          <a:sy n="110" d="100"/>
        </p:scale>
        <p:origin x="63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1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88" d="100"/>
          <a:sy n="88" d="100"/>
        </p:scale>
        <p:origin x="2304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43" Type="http://schemas.openxmlformats.org/officeDocument/2006/relationships/notesMaster" Target="notesMasters/notesMaster1.xml"/><Relationship Id="rId44" Type="http://schemas.openxmlformats.org/officeDocument/2006/relationships/handoutMaster" Target="handoutMasters/handout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94A4ADF4-453C-457E-86D9-CD37DAF689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CADF25C-5BB8-4BD0-BDC1-EEFBE762B1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AF38E-5B40-4569-94F9-8A9E19C89598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3D43EEF-F3D0-4630-86EE-795A8714A1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4DB2FB6-C1B4-41B8-B2C8-63E282BABA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40BC7-BB6B-4206-8408-37DDF1140C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97123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904B8-3F30-4855-975D-903AF7405B5F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D77DC6-8909-46DB-8A09-C93F97972A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2759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334550D7-C10F-40A3-B7E4-04B771A2CD06}"/>
              </a:ext>
            </a:extLst>
          </p:cNvPr>
          <p:cNvGrpSpPr/>
          <p:nvPr userDrawn="1"/>
        </p:nvGrpSpPr>
        <p:grpSpPr>
          <a:xfrm>
            <a:off x="0" y="2132856"/>
            <a:ext cx="12192000" cy="4401865"/>
            <a:chOff x="0" y="2060847"/>
            <a:chExt cx="12192000" cy="4401865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D60BCABB-DE84-4EA0-BB16-7465AC6DCC7E}"/>
                </a:ext>
              </a:extLst>
            </p:cNvPr>
            <p:cNvGrpSpPr/>
            <p:nvPr userDrawn="1"/>
          </p:nvGrpSpPr>
          <p:grpSpPr>
            <a:xfrm>
              <a:off x="0" y="2132855"/>
              <a:ext cx="12192000" cy="4310807"/>
              <a:chOff x="0" y="2132855"/>
              <a:chExt cx="12192000" cy="4310807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9B6EC8B0-6447-4073-B42C-68A061FC8B4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20" t="-108" r="24949" b="17448"/>
              <a:stretch/>
            </p:blipFill>
            <p:spPr bwMode="auto">
              <a:xfrm>
                <a:off x="0" y="2132855"/>
                <a:ext cx="12192000" cy="43108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C7B43B87-1B6D-4DA0-8AF9-002ADBD73992}"/>
                  </a:ext>
                </a:extLst>
              </p:cNvPr>
              <p:cNvSpPr/>
              <p:nvPr userDrawn="1"/>
            </p:nvSpPr>
            <p:spPr>
              <a:xfrm>
                <a:off x="0" y="2132856"/>
                <a:ext cx="12192000" cy="1728192"/>
              </a:xfrm>
              <a:prstGeom prst="rect">
                <a:avLst/>
              </a:prstGeom>
              <a:gradFill>
                <a:gsLst>
                  <a:gs pos="0">
                    <a:srgbClr val="F2F3F2"/>
                  </a:gs>
                  <a:gs pos="76000">
                    <a:srgbClr val="F2F3F2">
                      <a:alpha val="73000"/>
                    </a:srgbClr>
                  </a:gs>
                  <a:gs pos="100000">
                    <a:srgbClr val="F2F3F2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B44772F4-9B55-4B0F-9F8F-D716848DB61A}"/>
                </a:ext>
              </a:extLst>
            </p:cNvPr>
            <p:cNvSpPr/>
            <p:nvPr userDrawn="1"/>
          </p:nvSpPr>
          <p:spPr>
            <a:xfrm rot="16200000">
              <a:off x="1959200" y="101648"/>
              <a:ext cx="4401865" cy="8320263"/>
            </a:xfrm>
            <a:prstGeom prst="rect">
              <a:avLst/>
            </a:prstGeom>
            <a:gradFill>
              <a:gsLst>
                <a:gs pos="0">
                  <a:srgbClr val="F2F3F2"/>
                </a:gs>
                <a:gs pos="76000">
                  <a:srgbClr val="F2F3F2">
                    <a:alpha val="73000"/>
                  </a:srgbClr>
                </a:gs>
                <a:gs pos="100000">
                  <a:srgbClr val="F2F3F2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21" name="タイトル 20">
            <a:extLst>
              <a:ext uri="{FF2B5EF4-FFF2-40B4-BE49-F238E27FC236}">
                <a16:creationId xmlns:a16="http://schemas.microsoft.com/office/drawing/2014/main" id="{709FCC8F-E6F5-4A6E-B5D9-DC254BA7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5" y="2060845"/>
            <a:ext cx="11089232" cy="864095"/>
          </a:xfrm>
          <a:prstGeom prst="rect">
            <a:avLst/>
          </a:prstGeom>
        </p:spPr>
        <p:txBody>
          <a:bodyPr lIns="0" tIns="36000" rIns="0" bIns="36000" anchor="b"/>
          <a:lstStyle>
            <a:lvl1pPr>
              <a:lnSpc>
                <a:spcPct val="110000"/>
              </a:lnSpc>
              <a:spcAft>
                <a:spcPts val="600"/>
              </a:spcAft>
              <a:defRPr sz="3939" b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25" name="テキスト プレースホルダー 24">
            <a:extLst>
              <a:ext uri="{FF2B5EF4-FFF2-40B4-BE49-F238E27FC236}">
                <a16:creationId xmlns:a16="http://schemas.microsoft.com/office/drawing/2014/main" id="{96C89AA9-753A-4749-99FE-4EF4150A8F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1383" y="862156"/>
            <a:ext cx="8320262" cy="322002"/>
          </a:xfrm>
          <a:prstGeom prst="rect">
            <a:avLst/>
          </a:prstGeom>
        </p:spPr>
        <p:txBody>
          <a:bodyPr wrap="square" lIns="0" tIns="36000" rIns="0" bIns="36000">
            <a:spAutoFit/>
          </a:bodyPr>
          <a:lstStyle>
            <a:lvl1pPr marL="0" indent="0">
              <a:buNone/>
              <a:defRPr sz="1800" spc="300" baseline="0">
                <a:latin typeface="+mn-ea"/>
                <a:ea typeface="+mn-ea"/>
              </a:defRPr>
            </a:lvl1pPr>
            <a:lvl2pPr marL="562737" indent="0">
              <a:buNone/>
              <a:defRPr sz="2215">
                <a:latin typeface="+mn-ea"/>
                <a:ea typeface="+mn-ea"/>
              </a:defRPr>
            </a:lvl2pPr>
            <a:lvl3pPr marL="1125472" indent="0">
              <a:buNone/>
              <a:defRPr sz="2215">
                <a:latin typeface="+mn-ea"/>
                <a:ea typeface="+mn-ea"/>
              </a:defRPr>
            </a:lvl3pPr>
            <a:lvl4pPr marL="1688207" indent="0">
              <a:buNone/>
              <a:defRPr sz="2215">
                <a:latin typeface="+mn-ea"/>
                <a:ea typeface="+mn-ea"/>
              </a:defRPr>
            </a:lvl4pPr>
            <a:lvl5pPr marL="2250944" indent="0">
              <a:buNone/>
              <a:defRPr sz="2215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○○○○株式会社　御中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FFC4BC-D888-44D1-995A-FCC371DF35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1383" y="3827079"/>
            <a:ext cx="5760641" cy="32200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>
              <a:buNone/>
              <a:defRPr sz="1800" kern="1200" spc="100" baseline="0"/>
            </a:lvl1pPr>
            <a:lvl2pPr marL="562737" indent="0">
              <a:buNone/>
              <a:defRPr/>
            </a:lvl2pPr>
            <a:lvl3pPr marL="1125472" indent="0">
              <a:buNone/>
              <a:defRPr/>
            </a:lvl3pPr>
            <a:lvl4pPr marL="1688207" indent="0">
              <a:buNone/>
              <a:defRPr/>
            </a:lvl4pPr>
            <a:lvl5pPr marL="2250944" indent="0">
              <a:buNone/>
              <a:defRPr/>
            </a:lvl5pPr>
          </a:lstStyle>
          <a:p>
            <a:pPr lvl="0"/>
            <a:r>
              <a:rPr kumimoji="1" lang="en-US" altLang="ja-JP" dirty="0"/>
              <a:t>2026/xx/xx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97170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 無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タイトル 20">
            <a:extLst>
              <a:ext uri="{FF2B5EF4-FFF2-40B4-BE49-F238E27FC236}">
                <a16:creationId xmlns:a16="http://schemas.microsoft.com/office/drawing/2014/main" id="{709FCC8F-E6F5-4A6E-B5D9-DC254BA7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5" y="2060845"/>
            <a:ext cx="11089232" cy="864095"/>
          </a:xfrm>
          <a:prstGeom prst="rect">
            <a:avLst/>
          </a:prstGeom>
        </p:spPr>
        <p:txBody>
          <a:bodyPr lIns="0" tIns="36000" rIns="0" bIns="36000" anchor="b"/>
          <a:lstStyle>
            <a:lvl1pPr>
              <a:lnSpc>
                <a:spcPct val="110000"/>
              </a:lnSpc>
              <a:spcAft>
                <a:spcPts val="600"/>
              </a:spcAft>
              <a:defRPr sz="3939" b="1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25" name="テキスト プレースホルダー 24">
            <a:extLst>
              <a:ext uri="{FF2B5EF4-FFF2-40B4-BE49-F238E27FC236}">
                <a16:creationId xmlns:a16="http://schemas.microsoft.com/office/drawing/2014/main" id="{96C89AA9-753A-4749-99FE-4EF4150A8F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1383" y="862156"/>
            <a:ext cx="8320262" cy="322002"/>
          </a:xfrm>
          <a:prstGeom prst="rect">
            <a:avLst/>
          </a:prstGeom>
        </p:spPr>
        <p:txBody>
          <a:bodyPr wrap="square" lIns="0" tIns="36000" rIns="0" bIns="36000">
            <a:spAutoFit/>
          </a:bodyPr>
          <a:lstStyle>
            <a:lvl1pPr marL="0" indent="0">
              <a:buNone/>
              <a:defRPr sz="1800" spc="300" baseline="0">
                <a:solidFill>
                  <a:schemeClr val="tx2"/>
                </a:solidFill>
                <a:latin typeface="+mn-ea"/>
                <a:ea typeface="+mn-ea"/>
              </a:defRPr>
            </a:lvl1pPr>
            <a:lvl2pPr marL="562737" indent="0">
              <a:buNone/>
              <a:defRPr sz="2215">
                <a:latin typeface="+mn-ea"/>
                <a:ea typeface="+mn-ea"/>
              </a:defRPr>
            </a:lvl2pPr>
            <a:lvl3pPr marL="1125472" indent="0">
              <a:buNone/>
              <a:defRPr sz="2215">
                <a:latin typeface="+mn-ea"/>
                <a:ea typeface="+mn-ea"/>
              </a:defRPr>
            </a:lvl3pPr>
            <a:lvl4pPr marL="1688207" indent="0">
              <a:buNone/>
              <a:defRPr sz="2215">
                <a:latin typeface="+mn-ea"/>
                <a:ea typeface="+mn-ea"/>
              </a:defRPr>
            </a:lvl4pPr>
            <a:lvl5pPr marL="2250944" indent="0">
              <a:buNone/>
              <a:defRPr sz="2215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○○○○株式会社　御中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FFC4BC-D888-44D1-995A-FCC371DF35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1383" y="3827079"/>
            <a:ext cx="5760641" cy="32200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>
              <a:buNone/>
              <a:defRPr sz="1800" kern="1200" spc="100" baseline="0">
                <a:solidFill>
                  <a:schemeClr val="tx2"/>
                </a:solidFill>
              </a:defRPr>
            </a:lvl1pPr>
            <a:lvl2pPr marL="562737" indent="0">
              <a:buNone/>
              <a:defRPr/>
            </a:lvl2pPr>
            <a:lvl3pPr marL="1125472" indent="0">
              <a:buNone/>
              <a:defRPr/>
            </a:lvl3pPr>
            <a:lvl4pPr marL="1688207" indent="0">
              <a:buNone/>
              <a:defRPr/>
            </a:lvl4pPr>
            <a:lvl5pPr marL="2250944" indent="0">
              <a:buNone/>
              <a:defRPr/>
            </a:lvl5pPr>
          </a:lstStyle>
          <a:p>
            <a:pPr lvl="0"/>
            <a:r>
              <a:rPr kumimoji="1" lang="en-US" altLang="ja-JP" dirty="0"/>
              <a:t>2024/xx/xx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82578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EF5DCCD8-920E-F09E-FB53-432AF7A81DD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7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6569"/>
          <a:stretch/>
        </p:blipFill>
        <p:spPr bwMode="auto">
          <a:xfrm flipH="1">
            <a:off x="4871863" y="2991421"/>
            <a:ext cx="7320133" cy="3866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6F4C76C5-967B-43D1-A539-D70FADE74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3" y="1444070"/>
            <a:ext cx="8640000" cy="1325563"/>
          </a:xfrm>
          <a:prstGeom prst="rect">
            <a:avLst/>
          </a:prstGeom>
        </p:spPr>
        <p:txBody>
          <a:bodyPr lIns="0" tIns="36000" rIns="0" bIns="36000" anchor="b"/>
          <a:lstStyle>
            <a:lvl1pPr algn="l">
              <a:lnSpc>
                <a:spcPct val="100000"/>
              </a:lnSpc>
              <a:defRPr sz="3446" b="1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2">
            <a:extLst>
              <a:ext uri="{FF2B5EF4-FFF2-40B4-BE49-F238E27FC236}">
                <a16:creationId xmlns:a16="http://schemas.microsoft.com/office/drawing/2014/main" id="{230B6857-AA64-4518-8F2A-FFB76A58A6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384" y="3789040"/>
            <a:ext cx="8640000" cy="914400"/>
          </a:xfrm>
          <a:prstGeom prst="rect">
            <a:avLst/>
          </a:prstGeom>
        </p:spPr>
        <p:txBody>
          <a:bodyPr lIns="0" tIns="36000" rIns="0" bIns="36000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562737" indent="0">
              <a:buNone/>
              <a:defRPr sz="2215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2pPr>
            <a:lvl3pPr marL="1125472" indent="0">
              <a:buNone/>
              <a:defRPr sz="2215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3pPr>
            <a:lvl4pPr marL="1688207" indent="0">
              <a:buNone/>
              <a:defRPr sz="2215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4pPr>
            <a:lvl5pPr marL="2250944" indent="0">
              <a:buNone/>
              <a:defRPr sz="2215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130318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 無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C76C5-967B-43D1-A539-D70FADE74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3" y="1444070"/>
            <a:ext cx="8640000" cy="1325563"/>
          </a:xfrm>
          <a:prstGeom prst="rect">
            <a:avLst/>
          </a:prstGeom>
        </p:spPr>
        <p:txBody>
          <a:bodyPr lIns="0" tIns="36000" rIns="0" bIns="36000" anchor="b"/>
          <a:lstStyle>
            <a:lvl1pPr algn="l">
              <a:lnSpc>
                <a:spcPct val="100000"/>
              </a:lnSpc>
              <a:defRPr sz="3446" b="1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2">
            <a:extLst>
              <a:ext uri="{FF2B5EF4-FFF2-40B4-BE49-F238E27FC236}">
                <a16:creationId xmlns:a16="http://schemas.microsoft.com/office/drawing/2014/main" id="{230B6857-AA64-4518-8F2A-FFB76A58A6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384" y="3789040"/>
            <a:ext cx="8640000" cy="914400"/>
          </a:xfrm>
          <a:prstGeom prst="rect">
            <a:avLst/>
          </a:prstGeom>
        </p:spPr>
        <p:txBody>
          <a:bodyPr lIns="0" tIns="36000" rIns="0" bIns="36000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562737" indent="0">
              <a:buNone/>
              <a:defRPr sz="2215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2pPr>
            <a:lvl3pPr marL="1125472" indent="0">
              <a:buNone/>
              <a:defRPr sz="2215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3pPr>
            <a:lvl4pPr marL="1688207" indent="0">
              <a:buNone/>
              <a:defRPr sz="2215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4pPr>
            <a:lvl5pPr marL="2250944" indent="0">
              <a:buNone/>
              <a:defRPr sz="2215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755777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準ページ　下線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81FDF30-8143-4C87-BAC7-BDDAB2025AF9}"/>
              </a:ext>
            </a:extLst>
          </p:cNvPr>
          <p:cNvSpPr/>
          <p:nvPr userDrawn="1"/>
        </p:nvSpPr>
        <p:spPr>
          <a:xfrm rot="10800000">
            <a:off x="169200" y="527797"/>
            <a:ext cx="11862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FADF279C-9BFF-4605-8416-0FEA24C615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344" y="128621"/>
            <a:ext cx="11625395" cy="386054"/>
          </a:xfrm>
          <a:prstGeom prst="rect">
            <a:avLst/>
          </a:prstGeom>
          <a:noFill/>
          <a:ln>
            <a:noFill/>
          </a:ln>
        </p:spPr>
        <p:txBody>
          <a:bodyPr wrap="square" lIns="0" tIns="72000" rIns="0" bIns="36000" anchor="t" anchorCtr="0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None/>
              <a:defRPr sz="1800" b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8633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準ページ　下線あり　OL対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81FDF30-8143-4C87-BAC7-BDDAB2025AF9}"/>
              </a:ext>
            </a:extLst>
          </p:cNvPr>
          <p:cNvSpPr/>
          <p:nvPr userDrawn="1"/>
        </p:nvSpPr>
        <p:spPr>
          <a:xfrm rot="10800000">
            <a:off x="169200" y="527797"/>
            <a:ext cx="11862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FADF279C-9BFF-4605-8416-0FEA24C6150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191344" y="128621"/>
            <a:ext cx="11625395" cy="386054"/>
          </a:xfrm>
          <a:prstGeom prst="rect">
            <a:avLst/>
          </a:prstGeom>
          <a:noFill/>
          <a:ln>
            <a:noFill/>
          </a:ln>
        </p:spPr>
        <p:txBody>
          <a:bodyPr wrap="square" lIns="0" tIns="72000" rIns="0" bIns="36000" anchor="t" anchorCtr="0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None/>
              <a:defRPr sz="1800" b="1">
                <a:solidFill>
                  <a:schemeClr val="tx1"/>
                </a:solidFill>
                <a:latin typeface="+mj-ea"/>
                <a:ea typeface="+mj-ea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9413F0F-2B62-84F0-8FA9-F26BB8ACF9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343" y="620688"/>
            <a:ext cx="11625395" cy="356307"/>
          </a:xfrm>
          <a:prstGeom prst="rect">
            <a:avLst/>
          </a:prstGeom>
        </p:spPr>
        <p:txBody>
          <a:bodyPr wrap="square" lIns="0" tIns="36000" rIns="36000" bIns="36000">
            <a:sp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7596282-BB85-5AB9-7D8A-DF0B22B999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92" y="1556792"/>
            <a:ext cx="11193346" cy="3140979"/>
          </a:xfrm>
          <a:prstGeom prst="rect">
            <a:avLst/>
          </a:prstGeom>
        </p:spPr>
        <p:txBody>
          <a:bodyPr wrap="square" lIns="0" tIns="36000" rIns="36000" bIns="36000">
            <a:spAutoFit/>
          </a:bodyPr>
          <a:lstStyle>
            <a:lvl1pPr marL="85725" indent="0" defTabSz="769938">
              <a:lnSpc>
                <a:spcPct val="110000"/>
              </a:lnSpc>
              <a:spcBef>
                <a:spcPts val="6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/>
              <a:defRPr sz="1800" b="1">
                <a:solidFill>
                  <a:schemeClr val="tx2"/>
                </a:solidFill>
                <a:latin typeface="+mn-ea"/>
                <a:ea typeface="+mn-ea"/>
              </a:defRPr>
            </a:lvl1pPr>
            <a:lvl2pPr marL="628650" indent="-2730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600">
                <a:solidFill>
                  <a:schemeClr val="tx2"/>
                </a:solidFill>
                <a:latin typeface="+mn-ea"/>
                <a:ea typeface="+mn-ea"/>
              </a:defRPr>
            </a:lvl2pPr>
            <a:lvl3pPr marL="892175" indent="-1841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3pPr>
            <a:lvl4pPr marL="1258888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4pPr>
            <a:lvl5pPr marL="1612900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5pPr>
            <a:lvl6pPr marL="1968500" indent="-1714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6pPr>
            <a:lvl7pPr marL="23336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7pPr>
            <a:lvl8pPr marL="26892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8pPr>
            <a:lvl9pPr marL="30448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kumimoji="1" lang="ja-JP" altLang="en-US" dirty="0"/>
              <a:t>マスターテキストの書式設定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第</a:t>
            </a:r>
            <a:r>
              <a:rPr kumimoji="1" lang="en-US" altLang="ja-JP" dirty="0"/>
              <a:t>6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6"/>
            <a:r>
              <a:rPr kumimoji="1" lang="ja-JP" altLang="en-US" dirty="0"/>
              <a:t>第</a:t>
            </a:r>
            <a:r>
              <a:rPr kumimoji="1" lang="en-US" altLang="ja-JP" dirty="0"/>
              <a:t>7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7"/>
            <a:r>
              <a:rPr kumimoji="1" lang="ja-JP" altLang="en-US" dirty="0"/>
              <a:t>第</a:t>
            </a:r>
            <a:r>
              <a:rPr kumimoji="1" lang="en-US" altLang="ja-JP" dirty="0"/>
              <a:t>8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8"/>
            <a:r>
              <a:rPr kumimoji="1" lang="ja-JP" altLang="en-US" dirty="0"/>
              <a:t>第</a:t>
            </a:r>
            <a:r>
              <a:rPr kumimoji="1" lang="en-US" altLang="ja-JP" dirty="0"/>
              <a:t>9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268587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準ページ　下線あり　OL対応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81FDF30-8143-4C87-BAC7-BDDAB2025AF9}"/>
              </a:ext>
            </a:extLst>
          </p:cNvPr>
          <p:cNvSpPr/>
          <p:nvPr userDrawn="1"/>
        </p:nvSpPr>
        <p:spPr>
          <a:xfrm rot="10800000">
            <a:off x="169200" y="527797"/>
            <a:ext cx="11862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FADF279C-9BFF-4605-8416-0FEA24C615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344" y="128621"/>
            <a:ext cx="11625395" cy="386054"/>
          </a:xfrm>
          <a:prstGeom prst="rect">
            <a:avLst/>
          </a:prstGeom>
          <a:noFill/>
          <a:ln>
            <a:noFill/>
          </a:ln>
        </p:spPr>
        <p:txBody>
          <a:bodyPr wrap="square" lIns="0" tIns="72000" rIns="0" bIns="36000" anchor="t" anchorCtr="0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None/>
              <a:defRPr sz="1800" b="1">
                <a:solidFill>
                  <a:schemeClr val="tx1"/>
                </a:solidFill>
                <a:latin typeface="+mj-ea"/>
                <a:ea typeface="+mj-ea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9413F0F-2B62-84F0-8FA9-F26BB8ACF9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343" y="620688"/>
            <a:ext cx="11625395" cy="324823"/>
          </a:xfrm>
          <a:prstGeom prst="rect">
            <a:avLst/>
          </a:prstGeom>
        </p:spPr>
        <p:txBody>
          <a:bodyPr wrap="square" lIns="0" tIns="36000" rIns="36000" bIns="36000">
            <a:sp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" name="テキスト プレースホルダー 2">
            <a:extLst>
              <a:ext uri="{FF2B5EF4-FFF2-40B4-BE49-F238E27FC236}">
                <a16:creationId xmlns:a16="http://schemas.microsoft.com/office/drawing/2014/main" id="{BBE9FB30-7971-E901-BCEB-6EEB4A77AA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847" y="5857539"/>
            <a:ext cx="3428306" cy="380480"/>
          </a:xfrm>
          <a:prstGeom prst="rect">
            <a:avLst/>
          </a:prstGeom>
        </p:spPr>
        <p:txBody>
          <a:bodyPr wrap="none" lIns="0" tIns="36000" rIns="36000" bIns="36000">
            <a:sp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99C7E5DD-AA3B-4A96-39C5-643DAE6815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92" y="1556792"/>
            <a:ext cx="11193346" cy="3140979"/>
          </a:xfrm>
          <a:prstGeom prst="rect">
            <a:avLst/>
          </a:prstGeom>
        </p:spPr>
        <p:txBody>
          <a:bodyPr wrap="square" lIns="0" tIns="36000" rIns="36000" bIns="36000">
            <a:spAutoFit/>
          </a:bodyPr>
          <a:lstStyle>
            <a:lvl1pPr marL="85725" indent="0" defTabSz="769938">
              <a:lnSpc>
                <a:spcPct val="110000"/>
              </a:lnSpc>
              <a:spcBef>
                <a:spcPts val="6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/>
              <a:defRPr sz="1800" b="1">
                <a:solidFill>
                  <a:schemeClr val="tx2"/>
                </a:solidFill>
                <a:latin typeface="+mn-ea"/>
                <a:ea typeface="+mn-ea"/>
              </a:defRPr>
            </a:lvl1pPr>
            <a:lvl2pPr marL="628650" indent="-2730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600">
                <a:solidFill>
                  <a:schemeClr val="tx2"/>
                </a:solidFill>
                <a:latin typeface="+mn-ea"/>
                <a:ea typeface="+mn-ea"/>
              </a:defRPr>
            </a:lvl2pPr>
            <a:lvl3pPr marL="892175" indent="-1841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3pPr>
            <a:lvl4pPr marL="1258888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4pPr>
            <a:lvl5pPr marL="1612900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5pPr>
            <a:lvl6pPr marL="1968500" indent="-1714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6pPr>
            <a:lvl7pPr marL="23336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7pPr>
            <a:lvl8pPr marL="26892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8pPr>
            <a:lvl9pPr marL="30448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kumimoji="1" lang="ja-JP" altLang="en-US" dirty="0"/>
              <a:t>マスターテキストの書式設定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第</a:t>
            </a:r>
            <a:r>
              <a:rPr kumimoji="1" lang="en-US" altLang="ja-JP" dirty="0"/>
              <a:t>6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6"/>
            <a:r>
              <a:rPr kumimoji="1" lang="ja-JP" altLang="en-US" dirty="0"/>
              <a:t>第</a:t>
            </a:r>
            <a:r>
              <a:rPr kumimoji="1" lang="en-US" altLang="ja-JP" dirty="0"/>
              <a:t>7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7"/>
            <a:r>
              <a:rPr kumimoji="1" lang="ja-JP" altLang="en-US" dirty="0"/>
              <a:t>第</a:t>
            </a:r>
            <a:r>
              <a:rPr kumimoji="1" lang="en-US" altLang="ja-JP" dirty="0"/>
              <a:t>8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8"/>
            <a:r>
              <a:rPr kumimoji="1" lang="ja-JP" altLang="en-US" dirty="0"/>
              <a:t>第</a:t>
            </a:r>
            <a:r>
              <a:rPr kumimoji="1" lang="en-US" altLang="ja-JP" dirty="0"/>
              <a:t>9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039204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準ページ　下線あり　OL対応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81FDF30-8143-4C87-BAC7-BDDAB2025AF9}"/>
              </a:ext>
            </a:extLst>
          </p:cNvPr>
          <p:cNvSpPr/>
          <p:nvPr userDrawn="1"/>
        </p:nvSpPr>
        <p:spPr>
          <a:xfrm rot="10800000">
            <a:off x="169200" y="527797"/>
            <a:ext cx="11862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FADF279C-9BFF-4605-8416-0FEA24C615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344" y="128621"/>
            <a:ext cx="11625395" cy="386054"/>
          </a:xfrm>
          <a:prstGeom prst="rect">
            <a:avLst/>
          </a:prstGeom>
          <a:noFill/>
          <a:ln>
            <a:noFill/>
          </a:ln>
        </p:spPr>
        <p:txBody>
          <a:bodyPr wrap="square" lIns="0" tIns="72000" rIns="0" bIns="36000" anchor="t" anchorCtr="0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None/>
              <a:defRPr sz="1800" b="1">
                <a:solidFill>
                  <a:schemeClr val="tx1"/>
                </a:solidFill>
                <a:latin typeface="+mj-ea"/>
                <a:ea typeface="+mj-ea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9413F0F-2B62-84F0-8FA9-F26BB8ACF9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343" y="620688"/>
            <a:ext cx="11625395" cy="324823"/>
          </a:xfrm>
          <a:prstGeom prst="rect">
            <a:avLst/>
          </a:prstGeom>
        </p:spPr>
        <p:txBody>
          <a:bodyPr wrap="square" lIns="0" tIns="36000" rIns="36000" bIns="36000">
            <a:sp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C20C7C06-3C74-94B3-71AD-3D8A4A8212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392" y="5733256"/>
            <a:ext cx="11193345" cy="380480"/>
          </a:xfrm>
          <a:prstGeom prst="rect">
            <a:avLst/>
          </a:prstGeom>
        </p:spPr>
        <p:txBody>
          <a:bodyPr wrap="square" lIns="0" tIns="36000" rIns="36000" bIns="3600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0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" name="テキスト プレースホルダー 4">
            <a:extLst>
              <a:ext uri="{FF2B5EF4-FFF2-40B4-BE49-F238E27FC236}">
                <a16:creationId xmlns:a16="http://schemas.microsoft.com/office/drawing/2014/main" id="{399B2A1E-3E23-6A52-995E-B8DEB2A8BA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92" y="1556792"/>
            <a:ext cx="11193346" cy="3140979"/>
          </a:xfrm>
          <a:prstGeom prst="rect">
            <a:avLst/>
          </a:prstGeom>
        </p:spPr>
        <p:txBody>
          <a:bodyPr wrap="square" lIns="0" tIns="36000" rIns="36000" bIns="36000">
            <a:spAutoFit/>
          </a:bodyPr>
          <a:lstStyle>
            <a:lvl1pPr marL="85725" indent="0" defTabSz="769938">
              <a:lnSpc>
                <a:spcPct val="110000"/>
              </a:lnSpc>
              <a:spcBef>
                <a:spcPts val="6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/>
              <a:defRPr sz="1800" b="1">
                <a:solidFill>
                  <a:schemeClr val="tx2"/>
                </a:solidFill>
                <a:latin typeface="+mn-ea"/>
                <a:ea typeface="+mn-ea"/>
              </a:defRPr>
            </a:lvl1pPr>
            <a:lvl2pPr marL="628650" indent="-2730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600">
                <a:solidFill>
                  <a:schemeClr val="tx2"/>
                </a:solidFill>
                <a:latin typeface="+mn-ea"/>
                <a:ea typeface="+mn-ea"/>
              </a:defRPr>
            </a:lvl2pPr>
            <a:lvl3pPr marL="892175" indent="-1841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3pPr>
            <a:lvl4pPr marL="1258888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4pPr>
            <a:lvl5pPr marL="1612900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5pPr>
            <a:lvl6pPr marL="1968500" indent="-1714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6pPr>
            <a:lvl7pPr marL="23336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7pPr>
            <a:lvl8pPr marL="26892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8pPr>
            <a:lvl9pPr marL="30448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kumimoji="1" lang="ja-JP" altLang="en-US" dirty="0"/>
              <a:t>マスターテキストの書式設定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第</a:t>
            </a:r>
            <a:r>
              <a:rPr kumimoji="1" lang="en-US" altLang="ja-JP" dirty="0"/>
              <a:t>6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6"/>
            <a:r>
              <a:rPr kumimoji="1" lang="ja-JP" altLang="en-US" dirty="0"/>
              <a:t>第</a:t>
            </a:r>
            <a:r>
              <a:rPr kumimoji="1" lang="en-US" altLang="ja-JP" dirty="0"/>
              <a:t>7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7"/>
            <a:r>
              <a:rPr kumimoji="1" lang="ja-JP" altLang="en-US" dirty="0"/>
              <a:t>第</a:t>
            </a:r>
            <a:r>
              <a:rPr kumimoji="1" lang="en-US" altLang="ja-JP" dirty="0"/>
              <a:t>8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8"/>
            <a:r>
              <a:rPr kumimoji="1" lang="ja-JP" altLang="en-US" dirty="0"/>
              <a:t>第</a:t>
            </a:r>
            <a:r>
              <a:rPr kumimoji="1" lang="en-US" altLang="ja-JP" dirty="0"/>
              <a:t>9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85005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線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B0158676-A267-7534-CDA0-2A0A15C7F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32656"/>
            <a:ext cx="10729192" cy="48436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338175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見出し中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B0158676-A267-7534-CDA0-2A0A15C7F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32656"/>
            <a:ext cx="11521280" cy="48436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defRPr sz="2800" b="1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21416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1197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最終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7061DF-CA5B-43E8-E28E-87AF6568851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65" t="6042" b="33525"/>
          <a:stretch/>
        </p:blipFill>
        <p:spPr bwMode="auto">
          <a:xfrm>
            <a:off x="983432" y="2132856"/>
            <a:ext cx="3719736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86526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プロジェクト実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タイトル 28">
            <a:extLst>
              <a:ext uri="{FF2B5EF4-FFF2-40B4-BE49-F238E27FC236}">
                <a16:creationId xmlns:a16="http://schemas.microsoft.com/office/drawing/2014/main" id="{84098DFA-8AD6-4B45-BF07-F6ED8287A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097" y="539301"/>
            <a:ext cx="4675809" cy="324823"/>
          </a:xfrm>
          <a:prstGeom prst="rect">
            <a:avLst/>
          </a:prstGeom>
        </p:spPr>
        <p:txBody>
          <a:bodyPr lIns="72000" tIns="36000" rIns="36000" bIns="36000">
            <a:spAutoFit/>
          </a:bodyPr>
          <a:lstStyle>
            <a:lvl1pPr>
              <a:lnSpc>
                <a:spcPct val="110000"/>
              </a:lnSpc>
              <a:defRPr sz="16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FA43020-128B-24DB-ABF4-DA962442037A}"/>
              </a:ext>
            </a:extLst>
          </p:cNvPr>
          <p:cNvSpPr txBox="1"/>
          <p:nvPr userDrawn="1"/>
        </p:nvSpPr>
        <p:spPr>
          <a:xfrm>
            <a:off x="276097" y="129055"/>
            <a:ext cx="1699490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1200" b="1" dirty="0" err="1">
                <a:solidFill>
                  <a:schemeClr val="accent6"/>
                </a:solidFill>
              </a:rPr>
              <a:t>Exture</a:t>
            </a:r>
            <a:r>
              <a:rPr kumimoji="1" lang="en-US" altLang="ja-JP" sz="1200" b="1" dirty="0">
                <a:solidFill>
                  <a:schemeClr val="bg1">
                    <a:lumMod val="75000"/>
                  </a:schemeClr>
                </a:solidFill>
              </a:rPr>
              <a:t> Achievements</a:t>
            </a:r>
            <a:endParaRPr kumimoji="1" lang="ja-JP" altLang="en-US" sz="12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4FCCE01-47B2-B844-8502-A9CFEF1DA7ED}"/>
              </a:ext>
            </a:extLst>
          </p:cNvPr>
          <p:cNvSpPr/>
          <p:nvPr userDrawn="1"/>
        </p:nvSpPr>
        <p:spPr>
          <a:xfrm>
            <a:off x="5316013" y="463378"/>
            <a:ext cx="6500727" cy="6046579"/>
          </a:xfrm>
          <a:prstGeom prst="roundRect">
            <a:avLst>
              <a:gd name="adj" fmla="val 19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1398210-EBD1-E823-50BE-A8A9AB289264}"/>
              </a:ext>
            </a:extLst>
          </p:cNvPr>
          <p:cNvSpPr txBox="1"/>
          <p:nvPr userDrawn="1"/>
        </p:nvSpPr>
        <p:spPr>
          <a:xfrm>
            <a:off x="5318598" y="129055"/>
            <a:ext cx="830727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1200" b="1" dirty="0">
                <a:solidFill>
                  <a:schemeClr val="bg1">
                    <a:lumMod val="75000"/>
                  </a:schemeClr>
                </a:solidFill>
              </a:rPr>
              <a:t>Overview</a:t>
            </a:r>
            <a:endParaRPr kumimoji="1" lang="ja-JP" altLang="en-US" sz="12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" name="テキスト プレースホルダー 30">
            <a:extLst>
              <a:ext uri="{FF2B5EF4-FFF2-40B4-BE49-F238E27FC236}">
                <a16:creationId xmlns:a16="http://schemas.microsoft.com/office/drawing/2014/main" id="{1D7148B0-6783-522B-7267-77809B1EFE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6097" y="1323083"/>
            <a:ext cx="4675809" cy="246020"/>
          </a:xfrm>
          <a:prstGeom prst="rect">
            <a:avLst/>
          </a:prstGeom>
        </p:spPr>
        <p:txBody>
          <a:bodyPr wrap="square" lIns="72000" tIns="36000" rIns="36000" bIns="3600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100">
                <a:solidFill>
                  <a:schemeClr val="tx2"/>
                </a:solidFill>
                <a:latin typeface="+mn-ea"/>
                <a:ea typeface="+mn-ea"/>
              </a:defRPr>
            </a:lvl1pPr>
            <a:lvl2pPr marL="457200" indent="0">
              <a:buNone/>
              <a:defRPr sz="1100">
                <a:latin typeface="+mn-ea"/>
                <a:ea typeface="+mn-ea"/>
              </a:defRPr>
            </a:lvl2pPr>
            <a:lvl3pPr marL="914400" indent="0">
              <a:buNone/>
              <a:defRPr sz="1100">
                <a:latin typeface="+mn-ea"/>
                <a:ea typeface="+mn-ea"/>
              </a:defRPr>
            </a:lvl3pPr>
            <a:lvl4pPr marL="1371600" indent="0">
              <a:buNone/>
              <a:defRPr sz="1100">
                <a:latin typeface="+mn-ea"/>
                <a:ea typeface="+mn-ea"/>
              </a:defRPr>
            </a:lvl4pPr>
            <a:lvl5pPr marL="1828800" indent="0">
              <a:buNone/>
              <a:defRPr sz="11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379689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プロジェクト振り返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9C4D2870-22D7-7B84-583D-72477B30EE63}"/>
              </a:ext>
            </a:extLst>
          </p:cNvPr>
          <p:cNvSpPr/>
          <p:nvPr userDrawn="1"/>
        </p:nvSpPr>
        <p:spPr>
          <a:xfrm>
            <a:off x="6248016" y="5828960"/>
            <a:ext cx="5727886" cy="65998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2"/>
              </a:solidFill>
            </a:endParaRPr>
          </a:p>
        </p:txBody>
      </p:sp>
      <p:sp>
        <p:nvSpPr>
          <p:cNvPr id="33" name="二等辺三角形 32">
            <a:extLst>
              <a:ext uri="{FF2B5EF4-FFF2-40B4-BE49-F238E27FC236}">
                <a16:creationId xmlns:a16="http://schemas.microsoft.com/office/drawing/2014/main" id="{7C5859D4-6AA6-71CE-286A-0099CB6D589B}"/>
              </a:ext>
            </a:extLst>
          </p:cNvPr>
          <p:cNvSpPr/>
          <p:nvPr userDrawn="1"/>
        </p:nvSpPr>
        <p:spPr>
          <a:xfrm>
            <a:off x="6563869" y="5597381"/>
            <a:ext cx="239996" cy="23999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2"/>
              </a:solidFill>
            </a:endParaRPr>
          </a:p>
        </p:txBody>
      </p:sp>
      <p:sp>
        <p:nvSpPr>
          <p:cNvPr id="29" name="タイトル 28">
            <a:extLst>
              <a:ext uri="{FF2B5EF4-FFF2-40B4-BE49-F238E27FC236}">
                <a16:creationId xmlns:a16="http://schemas.microsoft.com/office/drawing/2014/main" id="{84098DFA-8AD6-4B45-BF07-F6ED8287A3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098" y="271889"/>
            <a:ext cx="5639906" cy="356307"/>
          </a:xfrm>
          <a:prstGeom prst="rect">
            <a:avLst/>
          </a:prstGeom>
        </p:spPr>
        <p:txBody>
          <a:bodyPr wrap="square" lIns="72000" tIns="36000" rIns="36000" bIns="36000">
            <a:spAutoFit/>
          </a:bodyPr>
          <a:lstStyle>
            <a:lvl1pPr>
              <a:lnSpc>
                <a:spcPct val="11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プロジェクト名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FA43020-128B-24DB-ABF4-DA962442037A}"/>
              </a:ext>
            </a:extLst>
          </p:cNvPr>
          <p:cNvSpPr txBox="1"/>
          <p:nvPr userDrawn="1"/>
        </p:nvSpPr>
        <p:spPr>
          <a:xfrm>
            <a:off x="9883095" y="189054"/>
            <a:ext cx="2032723" cy="309435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1400" b="1" dirty="0" err="1">
                <a:solidFill>
                  <a:schemeClr val="accent6"/>
                </a:solidFill>
              </a:rPr>
              <a:t>Exture</a:t>
            </a:r>
            <a:r>
              <a:rPr kumimoji="1" lang="en-US" altLang="ja-JP" sz="1400" b="1" dirty="0">
                <a:solidFill>
                  <a:schemeClr val="bg1">
                    <a:lumMod val="75000"/>
                  </a:schemeClr>
                </a:solidFill>
              </a:rPr>
              <a:t> Project Review</a:t>
            </a:r>
            <a:endParaRPr kumimoji="1" lang="ja-JP" altLang="en-US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" name="テキスト プレースホルダー 30">
            <a:extLst>
              <a:ext uri="{FF2B5EF4-FFF2-40B4-BE49-F238E27FC236}">
                <a16:creationId xmlns:a16="http://schemas.microsoft.com/office/drawing/2014/main" id="{1D7148B0-6783-522B-7267-77809B1EFE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6097" y="1570156"/>
            <a:ext cx="5639906" cy="823871"/>
          </a:xfrm>
          <a:prstGeom prst="rect">
            <a:avLst/>
          </a:prstGeom>
        </p:spPr>
        <p:txBody>
          <a:bodyPr wrap="square" lIns="72000" tIns="36000" rIns="36000" bIns="3600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>
                <a:solidFill>
                  <a:schemeClr val="tx2"/>
                </a:solidFill>
                <a:latin typeface="+mn-ea"/>
                <a:ea typeface="+mn-ea"/>
              </a:defRPr>
            </a:lvl1pPr>
            <a:lvl2pPr marL="457200" indent="0">
              <a:buNone/>
              <a:defRPr sz="1100">
                <a:latin typeface="+mn-ea"/>
                <a:ea typeface="+mn-ea"/>
              </a:defRPr>
            </a:lvl2pPr>
            <a:lvl3pPr marL="914400" indent="0">
              <a:buNone/>
              <a:defRPr sz="1100">
                <a:latin typeface="+mn-ea"/>
                <a:ea typeface="+mn-ea"/>
              </a:defRPr>
            </a:lvl3pPr>
            <a:lvl4pPr marL="1371600" indent="0">
              <a:buNone/>
              <a:defRPr sz="1100">
                <a:latin typeface="+mn-ea"/>
                <a:ea typeface="+mn-ea"/>
              </a:defRPr>
            </a:lvl4pPr>
            <a:lvl5pPr marL="1828800" indent="0">
              <a:buNone/>
              <a:defRPr sz="11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どんなことをやったのか</a:t>
            </a:r>
            <a:br>
              <a:rPr kumimoji="1" lang="en-US" altLang="ja-JP" dirty="0"/>
            </a:br>
            <a:r>
              <a:rPr kumimoji="1" lang="ja-JP" altLang="en-US" dirty="0"/>
              <a:t>なにをアウトプットしたのか</a:t>
            </a:r>
            <a:br>
              <a:rPr kumimoji="1" lang="en-US" altLang="ja-JP" dirty="0"/>
            </a:br>
            <a:r>
              <a:rPr kumimoji="1" lang="ja-JP" altLang="en-US" dirty="0"/>
              <a:t>どんな特徴があるのか。使ったツール、試したこと、力をいれたこと</a:t>
            </a:r>
            <a:br>
              <a:rPr kumimoji="1" lang="en-US" altLang="ja-JP" dirty="0"/>
            </a:br>
            <a:r>
              <a:rPr kumimoji="1" lang="ja-JP" altLang="en-US" dirty="0"/>
              <a:t>期待したこと</a:t>
            </a:r>
            <a:br>
              <a:rPr kumimoji="1" lang="en-US" altLang="ja-JP" dirty="0"/>
            </a:br>
            <a:r>
              <a:rPr kumimoji="1" lang="ja-JP" altLang="en-US" dirty="0"/>
              <a:t>狙ったこと　</a:t>
            </a:r>
            <a:endParaRPr kumimoji="1" lang="en-US" altLang="ja-JP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5E34EEA-F1AB-82CD-FB20-027E76CB8604}"/>
              </a:ext>
            </a:extLst>
          </p:cNvPr>
          <p:cNvSpPr txBox="1"/>
          <p:nvPr userDrawn="1"/>
        </p:nvSpPr>
        <p:spPr>
          <a:xfrm>
            <a:off x="276097" y="1241843"/>
            <a:ext cx="1340161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プロジェクト概要</a:t>
            </a:r>
          </a:p>
        </p:txBody>
      </p:sp>
      <p:sp>
        <p:nvSpPr>
          <p:cNvPr id="13" name="テキスト プレースホルダー 30">
            <a:extLst>
              <a:ext uri="{FF2B5EF4-FFF2-40B4-BE49-F238E27FC236}">
                <a16:creationId xmlns:a16="http://schemas.microsoft.com/office/drawing/2014/main" id="{923DA4F8-85FA-E95D-89E8-FA1240B7FF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097" y="3179434"/>
            <a:ext cx="5639906" cy="366823"/>
          </a:xfrm>
          <a:prstGeom prst="rect">
            <a:avLst/>
          </a:prstGeom>
        </p:spPr>
        <p:txBody>
          <a:bodyPr wrap="square" lIns="72000" tIns="36000" rIns="36000" bIns="3600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>
                <a:solidFill>
                  <a:schemeClr val="tx2"/>
                </a:solidFill>
                <a:latin typeface="+mn-ea"/>
                <a:ea typeface="+mn-ea"/>
              </a:defRPr>
            </a:lvl1pPr>
            <a:lvl2pPr marL="457200" indent="0">
              <a:buNone/>
              <a:defRPr sz="1100">
                <a:latin typeface="+mn-ea"/>
                <a:ea typeface="+mn-ea"/>
              </a:defRPr>
            </a:lvl2pPr>
            <a:lvl3pPr marL="914400" indent="0">
              <a:buNone/>
              <a:defRPr sz="1100">
                <a:latin typeface="+mn-ea"/>
                <a:ea typeface="+mn-ea"/>
              </a:defRPr>
            </a:lvl3pPr>
            <a:lvl4pPr marL="1371600" indent="0">
              <a:buNone/>
              <a:defRPr sz="1100">
                <a:latin typeface="+mn-ea"/>
                <a:ea typeface="+mn-ea"/>
              </a:defRPr>
            </a:lvl4pPr>
            <a:lvl5pPr marL="1828800" indent="0">
              <a:buNone/>
              <a:defRPr sz="11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うまくいったこと・感謝したこと、</a:t>
            </a:r>
            <a:br>
              <a:rPr kumimoji="1" lang="en-US" altLang="ja-JP" dirty="0"/>
            </a:br>
            <a:r>
              <a:rPr kumimoji="1" lang="ja-JP" altLang="en-US" dirty="0"/>
              <a:t>乗り越えたこと、初だったこと、など好印象なチャレンジ事項を書く。　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7A577C8-52C3-5CE3-7030-85316D4EFE84}"/>
              </a:ext>
            </a:extLst>
          </p:cNvPr>
          <p:cNvSpPr txBox="1"/>
          <p:nvPr userDrawn="1"/>
        </p:nvSpPr>
        <p:spPr>
          <a:xfrm>
            <a:off x="276097" y="2871095"/>
            <a:ext cx="2571267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うまくできたこと・めぐまれたこと</a:t>
            </a:r>
          </a:p>
        </p:txBody>
      </p:sp>
      <p:sp>
        <p:nvSpPr>
          <p:cNvPr id="15" name="テキスト プレースホルダー 30">
            <a:extLst>
              <a:ext uri="{FF2B5EF4-FFF2-40B4-BE49-F238E27FC236}">
                <a16:creationId xmlns:a16="http://schemas.microsoft.com/office/drawing/2014/main" id="{0FDA4280-6175-4045-AA3F-0FCC512AFE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207" y="4508354"/>
            <a:ext cx="5639906" cy="519172"/>
          </a:xfrm>
          <a:prstGeom prst="rect">
            <a:avLst/>
          </a:prstGeom>
        </p:spPr>
        <p:txBody>
          <a:bodyPr wrap="square" lIns="72000" tIns="36000" rIns="36000" bIns="3600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>
                <a:solidFill>
                  <a:schemeClr val="tx2"/>
                </a:solidFill>
                <a:latin typeface="+mn-ea"/>
                <a:ea typeface="+mn-ea"/>
              </a:defRPr>
            </a:lvl1pPr>
            <a:lvl2pPr marL="457200" indent="0">
              <a:buNone/>
              <a:defRPr sz="1100">
                <a:latin typeface="+mn-ea"/>
                <a:ea typeface="+mn-ea"/>
              </a:defRPr>
            </a:lvl2pPr>
            <a:lvl3pPr marL="914400" indent="0">
              <a:buNone/>
              <a:defRPr sz="1100">
                <a:latin typeface="+mn-ea"/>
                <a:ea typeface="+mn-ea"/>
              </a:defRPr>
            </a:lvl3pPr>
            <a:lvl4pPr marL="1371600" indent="0">
              <a:buNone/>
              <a:defRPr sz="1100">
                <a:latin typeface="+mn-ea"/>
                <a:ea typeface="+mn-ea"/>
              </a:defRPr>
            </a:lvl4pPr>
            <a:lvl5pPr marL="1828800" indent="0">
              <a:buNone/>
              <a:defRPr sz="11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大変だったこと</a:t>
            </a:r>
            <a:br>
              <a:rPr kumimoji="1" lang="en-US" altLang="ja-JP" dirty="0"/>
            </a:br>
            <a:r>
              <a:rPr kumimoji="1" lang="ja-JP" altLang="en-US" dirty="0"/>
              <a:t>うまくいかなかったこと</a:t>
            </a:r>
            <a:br>
              <a:rPr kumimoji="1" lang="en-US" altLang="ja-JP" dirty="0"/>
            </a:br>
            <a:r>
              <a:rPr kumimoji="1" lang="ja-JP" altLang="en-US" dirty="0"/>
              <a:t>期待値と違ってたこと　起きたトラブル、ひやりとしたこと　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23A03F1-4655-995F-0263-06635E1DCBCB}"/>
              </a:ext>
            </a:extLst>
          </p:cNvPr>
          <p:cNvSpPr txBox="1"/>
          <p:nvPr userDrawn="1"/>
        </p:nvSpPr>
        <p:spPr>
          <a:xfrm>
            <a:off x="271207" y="4206120"/>
            <a:ext cx="1032384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課題・想定外</a:t>
            </a:r>
          </a:p>
        </p:txBody>
      </p:sp>
      <p:sp>
        <p:nvSpPr>
          <p:cNvPr id="17" name="テキスト プレースホルダー 30">
            <a:extLst>
              <a:ext uri="{FF2B5EF4-FFF2-40B4-BE49-F238E27FC236}">
                <a16:creationId xmlns:a16="http://schemas.microsoft.com/office/drawing/2014/main" id="{AE1833DD-6796-5851-652D-96A90F630E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1207" y="5680010"/>
            <a:ext cx="5639906" cy="519172"/>
          </a:xfrm>
          <a:prstGeom prst="rect">
            <a:avLst/>
          </a:prstGeom>
        </p:spPr>
        <p:txBody>
          <a:bodyPr wrap="square" lIns="72000" tIns="36000" rIns="36000" bIns="3600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>
                <a:solidFill>
                  <a:schemeClr val="tx2"/>
                </a:solidFill>
                <a:latin typeface="+mn-ea"/>
                <a:ea typeface="+mn-ea"/>
              </a:defRPr>
            </a:lvl1pPr>
            <a:lvl2pPr marL="457200" indent="0">
              <a:buNone/>
              <a:defRPr sz="1100">
                <a:latin typeface="+mn-ea"/>
                <a:ea typeface="+mn-ea"/>
              </a:defRPr>
            </a:lvl2pPr>
            <a:lvl3pPr marL="914400" indent="0">
              <a:buNone/>
              <a:defRPr sz="1100">
                <a:latin typeface="+mn-ea"/>
                <a:ea typeface="+mn-ea"/>
              </a:defRPr>
            </a:lvl3pPr>
            <a:lvl4pPr marL="1371600" indent="0">
              <a:buNone/>
              <a:defRPr sz="1100">
                <a:latin typeface="+mn-ea"/>
                <a:ea typeface="+mn-ea"/>
              </a:defRPr>
            </a:lvl4pPr>
            <a:lvl5pPr marL="1828800" indent="0">
              <a:buNone/>
              <a:defRPr sz="11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次に活かすなら。もう一回やるなら次はこうする</a:t>
            </a:r>
            <a:br>
              <a:rPr kumimoji="1" lang="en-US" altLang="ja-JP" dirty="0"/>
            </a:br>
            <a:r>
              <a:rPr kumimoji="1" lang="ja-JP" altLang="en-US" dirty="0"/>
              <a:t>他の案件でもこれはしたほうがいいかも</a:t>
            </a:r>
            <a:br>
              <a:rPr kumimoji="1" lang="en-US" altLang="ja-JP" dirty="0"/>
            </a:br>
            <a:r>
              <a:rPr kumimoji="1" lang="ja-JP" altLang="en-US" dirty="0"/>
              <a:t>個人としてもこれは〇〇が得られた　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F5AC6BE-9D2A-37B2-8A3D-18F139F54A65}"/>
              </a:ext>
            </a:extLst>
          </p:cNvPr>
          <p:cNvSpPr txBox="1"/>
          <p:nvPr userDrawn="1"/>
        </p:nvSpPr>
        <p:spPr>
          <a:xfrm>
            <a:off x="271207" y="5358497"/>
            <a:ext cx="1505271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学び </a:t>
            </a:r>
            <a:r>
              <a:rPr kumimoji="1" lang="en-US" altLang="ja-JP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/ </a:t>
            </a:r>
            <a:r>
              <a:rPr kumimoji="1" lang="ja-JP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今後への共有</a:t>
            </a:r>
          </a:p>
        </p:txBody>
      </p:sp>
      <p:sp>
        <p:nvSpPr>
          <p:cNvPr id="19" name="テキスト プレースホルダー 30">
            <a:extLst>
              <a:ext uri="{FF2B5EF4-FFF2-40B4-BE49-F238E27FC236}">
                <a16:creationId xmlns:a16="http://schemas.microsoft.com/office/drawing/2014/main" id="{D99279B1-3CE9-B69C-13E2-0AED48D540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5044" y="6041433"/>
            <a:ext cx="5279912" cy="261794"/>
          </a:xfrm>
          <a:prstGeom prst="rect">
            <a:avLst/>
          </a:prstGeom>
        </p:spPr>
        <p:txBody>
          <a:bodyPr wrap="square" lIns="72000" tIns="36000" rIns="36000" bIns="36000" anchor="ctr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1200">
                <a:solidFill>
                  <a:schemeClr val="tx2"/>
                </a:solidFill>
                <a:latin typeface="+mn-ea"/>
                <a:ea typeface="+mn-ea"/>
              </a:defRPr>
            </a:lvl1pPr>
            <a:lvl2pPr marL="457200" indent="0">
              <a:buNone/>
              <a:defRPr sz="1100">
                <a:latin typeface="+mn-ea"/>
                <a:ea typeface="+mn-ea"/>
              </a:defRPr>
            </a:lvl2pPr>
            <a:lvl3pPr marL="914400" indent="0">
              <a:buNone/>
              <a:defRPr sz="1100">
                <a:latin typeface="+mn-ea"/>
                <a:ea typeface="+mn-ea"/>
              </a:defRPr>
            </a:lvl3pPr>
            <a:lvl4pPr marL="1371600" indent="0">
              <a:buNone/>
              <a:defRPr sz="1100">
                <a:latin typeface="+mn-ea"/>
                <a:ea typeface="+mn-ea"/>
              </a:defRPr>
            </a:lvl4pPr>
            <a:lvl5pPr marL="1828800" indent="0">
              <a:buNone/>
              <a:defRPr sz="11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＊＊＊＊＊＊＊＊＊＊＊＊＊＊＊＊＊＊＊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2237BE2-B3D6-5892-E7BC-7DC24B1ED78D}"/>
              </a:ext>
            </a:extLst>
          </p:cNvPr>
          <p:cNvSpPr txBox="1"/>
          <p:nvPr userDrawn="1"/>
        </p:nvSpPr>
        <p:spPr>
          <a:xfrm>
            <a:off x="6803775" y="5514127"/>
            <a:ext cx="1494049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2"/>
                </a:solidFill>
              </a:rPr>
              <a:t>メンバーからの一言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A7D05A7-7363-501B-4E50-160C56A239F1}"/>
              </a:ext>
            </a:extLst>
          </p:cNvPr>
          <p:cNvSpPr/>
          <p:nvPr userDrawn="1"/>
        </p:nvSpPr>
        <p:spPr>
          <a:xfrm rot="10800000">
            <a:off x="271207" y="669047"/>
            <a:ext cx="5400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DA4C263-A2A2-47BD-B335-5E71A997F88C}"/>
              </a:ext>
            </a:extLst>
          </p:cNvPr>
          <p:cNvSpPr/>
          <p:nvPr userDrawn="1"/>
        </p:nvSpPr>
        <p:spPr>
          <a:xfrm rot="10800000">
            <a:off x="271207" y="1510286"/>
            <a:ext cx="5400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B8CF1D0-08C6-162E-3AB7-350920074EDA}"/>
              </a:ext>
            </a:extLst>
          </p:cNvPr>
          <p:cNvSpPr/>
          <p:nvPr userDrawn="1"/>
        </p:nvSpPr>
        <p:spPr>
          <a:xfrm rot="10800000">
            <a:off x="271207" y="3139538"/>
            <a:ext cx="5400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3923FCE-BD16-D287-C72C-6B61C2F6F84C}"/>
              </a:ext>
            </a:extLst>
          </p:cNvPr>
          <p:cNvSpPr/>
          <p:nvPr userDrawn="1"/>
        </p:nvSpPr>
        <p:spPr>
          <a:xfrm rot="10800000">
            <a:off x="271207" y="4474563"/>
            <a:ext cx="5400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58845E1-7332-A1DD-25AC-86800BC21664}"/>
              </a:ext>
            </a:extLst>
          </p:cNvPr>
          <p:cNvSpPr/>
          <p:nvPr userDrawn="1"/>
        </p:nvSpPr>
        <p:spPr>
          <a:xfrm rot="10800000">
            <a:off x="271207" y="5626940"/>
            <a:ext cx="5400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B0E769A0-D460-3E3F-AD37-3FDCB963E1A8}"/>
              </a:ext>
            </a:extLst>
          </p:cNvPr>
          <p:cNvSpPr/>
          <p:nvPr userDrawn="1"/>
        </p:nvSpPr>
        <p:spPr>
          <a:xfrm>
            <a:off x="6176834" y="561975"/>
            <a:ext cx="5727886" cy="4868898"/>
          </a:xfrm>
          <a:prstGeom prst="roundRect">
            <a:avLst>
              <a:gd name="adj" fmla="val 19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30" name="テキスト プレースホルダー 30">
            <a:extLst>
              <a:ext uri="{FF2B5EF4-FFF2-40B4-BE49-F238E27FC236}">
                <a16:creationId xmlns:a16="http://schemas.microsoft.com/office/drawing/2014/main" id="{C0D9B52A-E8C5-A86A-1B1F-2FB4817E81D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6097" y="720961"/>
            <a:ext cx="5639906" cy="157544"/>
          </a:xfrm>
          <a:prstGeom prst="rect">
            <a:avLst/>
          </a:prstGeom>
        </p:spPr>
        <p:txBody>
          <a:bodyPr wrap="square" lIns="72000" tIns="0" rIns="36000" bIns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2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 sz="1100">
                <a:latin typeface="+mn-ea"/>
                <a:ea typeface="+mn-ea"/>
              </a:defRPr>
            </a:lvl2pPr>
            <a:lvl3pPr marL="914400" indent="0">
              <a:buNone/>
              <a:defRPr sz="1100">
                <a:latin typeface="+mn-ea"/>
                <a:ea typeface="+mn-ea"/>
              </a:defRPr>
            </a:lvl3pPr>
            <a:lvl4pPr marL="1371600" indent="0">
              <a:buNone/>
              <a:defRPr sz="1100">
                <a:latin typeface="+mn-ea"/>
                <a:ea typeface="+mn-ea"/>
              </a:defRPr>
            </a:lvl4pPr>
            <a:lvl5pPr marL="1828800" indent="0">
              <a:buNone/>
              <a:defRPr sz="11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メンバー：　〇〇〇、〇〇○ 、〇〇○ 、〇〇○ 、〇〇○ 、〇〇○</a:t>
            </a:r>
          </a:p>
        </p:txBody>
      </p:sp>
      <p:sp>
        <p:nvSpPr>
          <p:cNvPr id="2" name="テキスト プレースホルダー 30">
            <a:extLst>
              <a:ext uri="{FF2B5EF4-FFF2-40B4-BE49-F238E27FC236}">
                <a16:creationId xmlns:a16="http://schemas.microsoft.com/office/drawing/2014/main" id="{AFC18DDD-EE5D-58F8-9484-850C08DEFD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6097" y="947497"/>
            <a:ext cx="5639906" cy="157544"/>
          </a:xfrm>
          <a:prstGeom prst="rect">
            <a:avLst/>
          </a:prstGeom>
        </p:spPr>
        <p:txBody>
          <a:bodyPr wrap="square" lIns="72000" tIns="0" rIns="36000" bIns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2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 sz="1100">
                <a:latin typeface="+mn-ea"/>
                <a:ea typeface="+mn-ea"/>
              </a:defRPr>
            </a:lvl2pPr>
            <a:lvl3pPr marL="914400" indent="0">
              <a:buNone/>
              <a:defRPr sz="1100">
                <a:latin typeface="+mn-ea"/>
                <a:ea typeface="+mn-ea"/>
              </a:defRPr>
            </a:lvl3pPr>
            <a:lvl4pPr marL="1371600" indent="0">
              <a:buNone/>
              <a:defRPr sz="1100">
                <a:latin typeface="+mn-ea"/>
                <a:ea typeface="+mn-ea"/>
              </a:defRPr>
            </a:lvl4pPr>
            <a:lvl5pPr marL="1828800" indent="0">
              <a:buNone/>
              <a:defRPr sz="11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期間と金額：　</a:t>
            </a:r>
            <a:r>
              <a:rPr kumimoji="1" lang="en-US" altLang="ja-JP" dirty="0"/>
              <a:t>2025/04-2025/10</a:t>
            </a:r>
            <a:r>
              <a:rPr kumimoji="1" lang="ja-JP" altLang="en-US" dirty="0"/>
              <a:t>　　総額〇〇万</a:t>
            </a:r>
          </a:p>
        </p:txBody>
      </p:sp>
    </p:spTree>
    <p:extLst>
      <p:ext uri="{BB962C8B-B14F-4D97-AF65-F5344CB8AC3E}">
        <p14:creationId xmlns:p14="http://schemas.microsoft.com/office/powerpoint/2010/main" val="2587574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プロジェクトキャンバス（分析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61;p15">
            <a:extLst>
              <a:ext uri="{FF2B5EF4-FFF2-40B4-BE49-F238E27FC236}">
                <a16:creationId xmlns:a16="http://schemas.microsoft.com/office/drawing/2014/main" id="{46A01686-C504-B658-DB42-F2EFC232ED37}"/>
              </a:ext>
            </a:extLst>
          </p:cNvPr>
          <p:cNvSpPr/>
          <p:nvPr userDrawn="1"/>
        </p:nvSpPr>
        <p:spPr>
          <a:xfrm>
            <a:off x="455380" y="695628"/>
            <a:ext cx="11244247" cy="5697120"/>
          </a:xfrm>
          <a:prstGeom prst="rect">
            <a:avLst/>
          </a:prstGeom>
          <a:solidFill>
            <a:schemeClr val="l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ea typeface="+mn-ea"/>
              <a:cs typeface="HiraMaruProN-W4"/>
              <a:sym typeface="HiraMaruProN-W4"/>
            </a:endParaRP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049A5DB6-AF17-2CDE-83EA-BC0374222D3E}"/>
              </a:ext>
            </a:extLst>
          </p:cNvPr>
          <p:cNvCxnSpPr>
            <a:cxnSpLocks/>
          </p:cNvCxnSpPr>
          <p:nvPr userDrawn="1"/>
        </p:nvCxnSpPr>
        <p:spPr>
          <a:xfrm flipH="1">
            <a:off x="6056136" y="591860"/>
            <a:ext cx="7693" cy="5933484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79F80FF9-FDA4-8801-86B1-6C02FCE7E06F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11947" y="2850314"/>
            <a:ext cx="11287680" cy="22216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D32DD1FE-7436-7969-6F2C-A22ECAF23BBA}"/>
              </a:ext>
            </a:extLst>
          </p:cNvPr>
          <p:cNvCxnSpPr>
            <a:cxnSpLocks/>
          </p:cNvCxnSpPr>
          <p:nvPr userDrawn="1"/>
        </p:nvCxnSpPr>
        <p:spPr>
          <a:xfrm flipH="1">
            <a:off x="6077503" y="1390884"/>
            <a:ext cx="5643048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2764C26F-9872-39E8-C822-F0E87E74F759}"/>
              </a:ext>
            </a:extLst>
          </p:cNvPr>
          <p:cNvCxnSpPr>
            <a:cxnSpLocks/>
          </p:cNvCxnSpPr>
          <p:nvPr userDrawn="1"/>
        </p:nvCxnSpPr>
        <p:spPr>
          <a:xfrm flipH="1">
            <a:off x="6077503" y="2150174"/>
            <a:ext cx="5643048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C15523EE-7D51-9ED2-11C5-6FA8759073FC}"/>
              </a:ext>
            </a:extLst>
          </p:cNvPr>
          <p:cNvCxnSpPr>
            <a:cxnSpLocks/>
          </p:cNvCxnSpPr>
          <p:nvPr userDrawn="1"/>
        </p:nvCxnSpPr>
        <p:spPr>
          <a:xfrm>
            <a:off x="3235711" y="2905125"/>
            <a:ext cx="0" cy="3548211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FD47779F-ACB6-FCFE-A3B8-28026E7DADE6}"/>
              </a:ext>
            </a:extLst>
          </p:cNvPr>
          <p:cNvCxnSpPr>
            <a:cxnSpLocks/>
          </p:cNvCxnSpPr>
          <p:nvPr userDrawn="1"/>
        </p:nvCxnSpPr>
        <p:spPr>
          <a:xfrm>
            <a:off x="8908341" y="1390884"/>
            <a:ext cx="0" cy="5062452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81FDF30-8143-4C87-BAC7-BDDAB2025AF9}"/>
              </a:ext>
            </a:extLst>
          </p:cNvPr>
          <p:cNvSpPr/>
          <p:nvPr userDrawn="1"/>
        </p:nvSpPr>
        <p:spPr>
          <a:xfrm rot="10800000">
            <a:off x="197399" y="476673"/>
            <a:ext cx="117972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FADF279C-9BFF-4605-8416-0FEA24C615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344" y="128621"/>
            <a:ext cx="11625395" cy="386054"/>
          </a:xfrm>
          <a:prstGeom prst="rect">
            <a:avLst/>
          </a:prstGeom>
          <a:noFill/>
          <a:ln>
            <a:noFill/>
          </a:ln>
        </p:spPr>
        <p:txBody>
          <a:bodyPr wrap="square" lIns="0" tIns="72000" rIns="0" bIns="36000" anchor="t" anchorCtr="0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None/>
              <a:defRPr sz="1800" b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26" name="Google Shape;72;p15">
            <a:extLst>
              <a:ext uri="{FF2B5EF4-FFF2-40B4-BE49-F238E27FC236}">
                <a16:creationId xmlns:a16="http://schemas.microsoft.com/office/drawing/2014/main" id="{0677D375-538D-8025-3628-711D3A7574D8}"/>
              </a:ext>
            </a:extLst>
          </p:cNvPr>
          <p:cNvSpPr txBox="1"/>
          <p:nvPr userDrawn="1"/>
        </p:nvSpPr>
        <p:spPr>
          <a:xfrm>
            <a:off x="455050" y="700453"/>
            <a:ext cx="569356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テーマ</a:t>
            </a:r>
            <a:endParaRPr sz="10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7" name="Google Shape;73;p15">
            <a:extLst>
              <a:ext uri="{FF2B5EF4-FFF2-40B4-BE49-F238E27FC236}">
                <a16:creationId xmlns:a16="http://schemas.microsoft.com/office/drawing/2014/main" id="{73ED1D2F-7C82-676F-FD3A-B025167AFB3C}"/>
              </a:ext>
            </a:extLst>
          </p:cNvPr>
          <p:cNvSpPr txBox="1"/>
          <p:nvPr userDrawn="1"/>
        </p:nvSpPr>
        <p:spPr>
          <a:xfrm>
            <a:off x="455050" y="1803014"/>
            <a:ext cx="133879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ビジネスインパクト</a:t>
            </a:r>
            <a:endParaRPr sz="10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8" name="Google Shape;74;p15">
            <a:extLst>
              <a:ext uri="{FF2B5EF4-FFF2-40B4-BE49-F238E27FC236}">
                <a16:creationId xmlns:a16="http://schemas.microsoft.com/office/drawing/2014/main" id="{C8E59A64-8B4E-CF0A-E7C6-8347E234D55A}"/>
              </a:ext>
            </a:extLst>
          </p:cNvPr>
          <p:cNvSpPr txBox="1"/>
          <p:nvPr userDrawn="1"/>
        </p:nvSpPr>
        <p:spPr>
          <a:xfrm>
            <a:off x="6085757" y="695627"/>
            <a:ext cx="441116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期間</a:t>
            </a:r>
            <a:endParaRPr sz="1000" b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9" name="Google Shape;75;p15">
            <a:extLst>
              <a:ext uri="{FF2B5EF4-FFF2-40B4-BE49-F238E27FC236}">
                <a16:creationId xmlns:a16="http://schemas.microsoft.com/office/drawing/2014/main" id="{BFAF476C-DBDC-00E2-0BBF-3F018F2F9D3F}"/>
              </a:ext>
            </a:extLst>
          </p:cNvPr>
          <p:cNvSpPr txBox="1"/>
          <p:nvPr userDrawn="1"/>
        </p:nvSpPr>
        <p:spPr>
          <a:xfrm>
            <a:off x="6085757" y="1430668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分析頻度</a:t>
            </a:r>
            <a:endParaRPr sz="1000" b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0" name="Google Shape;76;p15">
            <a:extLst>
              <a:ext uri="{FF2B5EF4-FFF2-40B4-BE49-F238E27FC236}">
                <a16:creationId xmlns:a16="http://schemas.microsoft.com/office/drawing/2014/main" id="{A3FBCA46-B430-35EF-E747-F6E1F1ECDFA9}"/>
              </a:ext>
            </a:extLst>
          </p:cNvPr>
          <p:cNvSpPr txBox="1"/>
          <p:nvPr userDrawn="1"/>
        </p:nvSpPr>
        <p:spPr>
          <a:xfrm>
            <a:off x="6085757" y="2165708"/>
            <a:ext cx="146703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データ準備（主担当）</a:t>
            </a:r>
            <a:endParaRPr sz="1000" b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1" name="Google Shape;77;p15">
            <a:extLst>
              <a:ext uri="{FF2B5EF4-FFF2-40B4-BE49-F238E27FC236}">
                <a16:creationId xmlns:a16="http://schemas.microsoft.com/office/drawing/2014/main" id="{9FE350F8-F6D8-6C4A-DDC0-274445E31310}"/>
              </a:ext>
            </a:extLst>
          </p:cNvPr>
          <p:cNvSpPr txBox="1"/>
          <p:nvPr userDrawn="1"/>
        </p:nvSpPr>
        <p:spPr>
          <a:xfrm>
            <a:off x="8915961" y="1430668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着手判断</a:t>
            </a:r>
            <a:endParaRPr sz="10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2" name="Google Shape;78;p15">
            <a:extLst>
              <a:ext uri="{FF2B5EF4-FFF2-40B4-BE49-F238E27FC236}">
                <a16:creationId xmlns:a16="http://schemas.microsoft.com/office/drawing/2014/main" id="{0B2C5DC2-B051-1D5E-84D1-5035625E0DE5}"/>
              </a:ext>
            </a:extLst>
          </p:cNvPr>
          <p:cNvSpPr txBox="1"/>
          <p:nvPr userDrawn="1"/>
        </p:nvSpPr>
        <p:spPr>
          <a:xfrm>
            <a:off x="8915961" y="2165708"/>
            <a:ext cx="133879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施策立案（主担当）</a:t>
            </a:r>
            <a:endParaRPr sz="10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3" name="Google Shape;79;p15">
            <a:extLst>
              <a:ext uri="{FF2B5EF4-FFF2-40B4-BE49-F238E27FC236}">
                <a16:creationId xmlns:a16="http://schemas.microsoft.com/office/drawing/2014/main" id="{112DE172-4DF3-7229-C09F-684954A06AD0}"/>
              </a:ext>
            </a:extLst>
          </p:cNvPr>
          <p:cNvSpPr txBox="1"/>
          <p:nvPr userDrawn="1"/>
        </p:nvSpPr>
        <p:spPr>
          <a:xfrm>
            <a:off x="8915961" y="2900749"/>
            <a:ext cx="95407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データソース</a:t>
            </a:r>
            <a:endParaRPr sz="1000" b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4" name="Google Shape;80;p15">
            <a:extLst>
              <a:ext uri="{FF2B5EF4-FFF2-40B4-BE49-F238E27FC236}">
                <a16:creationId xmlns:a16="http://schemas.microsoft.com/office/drawing/2014/main" id="{45C54162-0F08-7DBB-F32E-252E0D700BEE}"/>
              </a:ext>
            </a:extLst>
          </p:cNvPr>
          <p:cNvSpPr txBox="1"/>
          <p:nvPr userDrawn="1"/>
        </p:nvSpPr>
        <p:spPr>
          <a:xfrm>
            <a:off x="6085757" y="2900749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成功基準</a:t>
            </a:r>
            <a:endParaRPr sz="1000" b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5" name="Google Shape;81;p15">
            <a:extLst>
              <a:ext uri="{FF2B5EF4-FFF2-40B4-BE49-F238E27FC236}">
                <a16:creationId xmlns:a16="http://schemas.microsoft.com/office/drawing/2014/main" id="{746EF045-F59B-536D-C83D-67922F509BD3}"/>
              </a:ext>
            </a:extLst>
          </p:cNvPr>
          <p:cNvSpPr txBox="1"/>
          <p:nvPr userDrawn="1"/>
        </p:nvSpPr>
        <p:spPr>
          <a:xfrm>
            <a:off x="455050" y="2905575"/>
            <a:ext cx="133879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誰のため、何のため</a:t>
            </a:r>
            <a:endParaRPr sz="10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6" name="Google Shape;82;p15">
            <a:extLst>
              <a:ext uri="{FF2B5EF4-FFF2-40B4-BE49-F238E27FC236}">
                <a16:creationId xmlns:a16="http://schemas.microsoft.com/office/drawing/2014/main" id="{D5E5079B-4B89-12A8-6D76-8BD01F16F336}"/>
              </a:ext>
            </a:extLst>
          </p:cNvPr>
          <p:cNvSpPr txBox="1"/>
          <p:nvPr userDrawn="1"/>
        </p:nvSpPr>
        <p:spPr>
          <a:xfrm>
            <a:off x="3273029" y="2900749"/>
            <a:ext cx="108231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想定アクション</a:t>
            </a:r>
            <a:endParaRPr sz="1000" b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47" name="Google Shape;93;p15">
            <a:extLst>
              <a:ext uri="{FF2B5EF4-FFF2-40B4-BE49-F238E27FC236}">
                <a16:creationId xmlns:a16="http://schemas.microsoft.com/office/drawing/2014/main" id="{29B532C9-B918-8A7F-5830-A29D77D8D0F5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10554" y="1286579"/>
            <a:ext cx="490027" cy="49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94;p15">
            <a:extLst>
              <a:ext uri="{FF2B5EF4-FFF2-40B4-BE49-F238E27FC236}">
                <a16:creationId xmlns:a16="http://schemas.microsoft.com/office/drawing/2014/main" id="{26096CE1-A623-1C9C-CF11-DDD441F0D22D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0902" y="940642"/>
            <a:ext cx="418725" cy="450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95;p15">
            <a:extLst>
              <a:ext uri="{FF2B5EF4-FFF2-40B4-BE49-F238E27FC236}">
                <a16:creationId xmlns:a16="http://schemas.microsoft.com/office/drawing/2014/main" id="{D6B952DA-7ED9-5ED4-B47F-396445EA4548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3869" y="1759215"/>
            <a:ext cx="395229" cy="390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96;p15">
            <a:extLst>
              <a:ext uri="{FF2B5EF4-FFF2-40B4-BE49-F238E27FC236}">
                <a16:creationId xmlns:a16="http://schemas.microsoft.com/office/drawing/2014/main" id="{899F9DDB-80EB-450E-E5BC-2C489E72766C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29851" y="1718926"/>
            <a:ext cx="360871" cy="406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97;p15">
            <a:extLst>
              <a:ext uri="{FF2B5EF4-FFF2-40B4-BE49-F238E27FC236}">
                <a16:creationId xmlns:a16="http://schemas.microsoft.com/office/drawing/2014/main" id="{6A3C78BF-A969-A292-14C6-1F301F4E4F7F}"/>
              </a:ext>
            </a:extLst>
          </p:cNvPr>
          <p:cNvPicPr preferRelativeResize="0"/>
          <p:nvPr userDrawn="1"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97102" y="2453292"/>
            <a:ext cx="390717" cy="406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98;p15">
            <a:extLst>
              <a:ext uri="{FF2B5EF4-FFF2-40B4-BE49-F238E27FC236}">
                <a16:creationId xmlns:a16="http://schemas.microsoft.com/office/drawing/2014/main" id="{AA183FDC-2A97-CE65-3D4D-F059C7227FA3}"/>
              </a:ext>
            </a:extLst>
          </p:cNvPr>
          <p:cNvPicPr preferRelativeResize="0"/>
          <p:nvPr userDrawn="1"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82818" y="2388203"/>
            <a:ext cx="509628" cy="49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99;p15">
            <a:extLst>
              <a:ext uri="{FF2B5EF4-FFF2-40B4-BE49-F238E27FC236}">
                <a16:creationId xmlns:a16="http://schemas.microsoft.com/office/drawing/2014/main" id="{6210A7F7-42CF-86AD-1AFC-5E124A95D7B6}"/>
              </a:ext>
            </a:extLst>
          </p:cNvPr>
          <p:cNvPicPr preferRelativeResize="0"/>
          <p:nvPr userDrawn="1"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55136" y="5868154"/>
            <a:ext cx="473693" cy="49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100;p15">
            <a:extLst>
              <a:ext uri="{FF2B5EF4-FFF2-40B4-BE49-F238E27FC236}">
                <a16:creationId xmlns:a16="http://schemas.microsoft.com/office/drawing/2014/main" id="{4AE163AF-9D5B-2A73-648C-8A1B5AD0238D}"/>
              </a:ext>
            </a:extLst>
          </p:cNvPr>
          <p:cNvPicPr preferRelativeResize="0"/>
          <p:nvPr userDrawn="1"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10936" y="5907147"/>
            <a:ext cx="490027" cy="49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101;p15">
            <a:extLst>
              <a:ext uri="{FF2B5EF4-FFF2-40B4-BE49-F238E27FC236}">
                <a16:creationId xmlns:a16="http://schemas.microsoft.com/office/drawing/2014/main" id="{3E2E6A12-2E8E-E37D-A6AF-AA7EFC73C85B}"/>
              </a:ext>
            </a:extLst>
          </p:cNvPr>
          <p:cNvPicPr preferRelativeResize="0"/>
          <p:nvPr userDrawn="1"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453408" y="2485443"/>
            <a:ext cx="390886" cy="390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103;p15">
            <a:extLst>
              <a:ext uri="{FF2B5EF4-FFF2-40B4-BE49-F238E27FC236}">
                <a16:creationId xmlns:a16="http://schemas.microsoft.com/office/drawing/2014/main" id="{C7B09D12-E72A-B4E9-4C67-48846D9835E9}"/>
              </a:ext>
            </a:extLst>
          </p:cNvPr>
          <p:cNvPicPr preferRelativeResize="0"/>
          <p:nvPr userDrawn="1"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721163" y="5868154"/>
            <a:ext cx="490027" cy="49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104;p15">
            <a:extLst>
              <a:ext uri="{FF2B5EF4-FFF2-40B4-BE49-F238E27FC236}">
                <a16:creationId xmlns:a16="http://schemas.microsoft.com/office/drawing/2014/main" id="{90D5BCF5-03D2-CFCD-BB20-22DD68C0439C}"/>
              </a:ext>
            </a:extLst>
          </p:cNvPr>
          <p:cNvPicPr preferRelativeResize="0"/>
          <p:nvPr userDrawn="1"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230524" y="5868154"/>
            <a:ext cx="490027" cy="490027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83;p15">
            <a:extLst>
              <a:ext uri="{FF2B5EF4-FFF2-40B4-BE49-F238E27FC236}">
                <a16:creationId xmlns:a16="http://schemas.microsoft.com/office/drawing/2014/main" id="{457B5865-B997-FD0E-7199-4ED43FDFE806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455050" y="990377"/>
            <a:ext cx="4978900" cy="755434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63" name="Google Shape;83;p15">
            <a:extLst>
              <a:ext uri="{FF2B5EF4-FFF2-40B4-BE49-F238E27FC236}">
                <a16:creationId xmlns:a16="http://schemas.microsoft.com/office/drawing/2014/main" id="{8EFA4A23-C104-646C-9E64-3C9BEE8EA688}"/>
              </a:ext>
            </a:extLst>
          </p:cNvPr>
          <p:cNvSpPr txBox="1">
            <a:spLocks noGrp="1"/>
          </p:cNvSpPr>
          <p:nvPr>
            <p:ph type="body" idx="16"/>
          </p:nvPr>
        </p:nvSpPr>
        <p:spPr>
          <a:xfrm>
            <a:off x="455050" y="2087465"/>
            <a:ext cx="4978900" cy="755434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64" name="Google Shape;83;p15">
            <a:extLst>
              <a:ext uri="{FF2B5EF4-FFF2-40B4-BE49-F238E27FC236}">
                <a16:creationId xmlns:a16="http://schemas.microsoft.com/office/drawing/2014/main" id="{78710996-CFCD-BFFE-51CB-6313A1FFC4FF}"/>
              </a:ext>
            </a:extLst>
          </p:cNvPr>
          <p:cNvSpPr txBox="1">
            <a:spLocks noGrp="1"/>
          </p:cNvSpPr>
          <p:nvPr>
            <p:ph type="body" idx="17"/>
          </p:nvPr>
        </p:nvSpPr>
        <p:spPr>
          <a:xfrm>
            <a:off x="6085757" y="980193"/>
            <a:ext cx="4962160" cy="37771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65" name="Google Shape;83;p15">
            <a:extLst>
              <a:ext uri="{FF2B5EF4-FFF2-40B4-BE49-F238E27FC236}">
                <a16:creationId xmlns:a16="http://schemas.microsoft.com/office/drawing/2014/main" id="{0927B0B9-F7AD-B930-D111-D6A6746B7855}"/>
              </a:ext>
            </a:extLst>
          </p:cNvPr>
          <p:cNvSpPr txBox="1">
            <a:spLocks noGrp="1"/>
          </p:cNvSpPr>
          <p:nvPr>
            <p:ph type="body" idx="18"/>
          </p:nvPr>
        </p:nvSpPr>
        <p:spPr>
          <a:xfrm>
            <a:off x="6085757" y="1685705"/>
            <a:ext cx="2594693" cy="37771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66" name="Google Shape;83;p15">
            <a:extLst>
              <a:ext uri="{FF2B5EF4-FFF2-40B4-BE49-F238E27FC236}">
                <a16:creationId xmlns:a16="http://schemas.microsoft.com/office/drawing/2014/main" id="{698E1D8B-2886-84DB-2E46-CFDBF9FC30B9}"/>
              </a:ext>
            </a:extLst>
          </p:cNvPr>
          <p:cNvSpPr txBox="1">
            <a:spLocks noGrp="1"/>
          </p:cNvSpPr>
          <p:nvPr>
            <p:ph type="body" idx="19"/>
          </p:nvPr>
        </p:nvSpPr>
        <p:spPr>
          <a:xfrm>
            <a:off x="8915961" y="1685705"/>
            <a:ext cx="2594693" cy="37771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67" name="Google Shape;83;p15">
            <a:extLst>
              <a:ext uri="{FF2B5EF4-FFF2-40B4-BE49-F238E27FC236}">
                <a16:creationId xmlns:a16="http://schemas.microsoft.com/office/drawing/2014/main" id="{63C6FB79-0E55-40FC-7782-09A366D92F27}"/>
              </a:ext>
            </a:extLst>
          </p:cNvPr>
          <p:cNvSpPr txBox="1">
            <a:spLocks noGrp="1"/>
          </p:cNvSpPr>
          <p:nvPr>
            <p:ph type="body" idx="20"/>
          </p:nvPr>
        </p:nvSpPr>
        <p:spPr>
          <a:xfrm>
            <a:off x="6085757" y="2428651"/>
            <a:ext cx="2594693" cy="37771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68" name="Google Shape;83;p15">
            <a:extLst>
              <a:ext uri="{FF2B5EF4-FFF2-40B4-BE49-F238E27FC236}">
                <a16:creationId xmlns:a16="http://schemas.microsoft.com/office/drawing/2014/main" id="{53074DCA-BBBA-14B1-1BC6-337CFDCAFC01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8915961" y="2428651"/>
            <a:ext cx="2594693" cy="37771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69" name="Google Shape;83;p15">
            <a:extLst>
              <a:ext uri="{FF2B5EF4-FFF2-40B4-BE49-F238E27FC236}">
                <a16:creationId xmlns:a16="http://schemas.microsoft.com/office/drawing/2014/main" id="{7274F00F-FB79-CA19-58A3-A2EC72097FC7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xfrm>
            <a:off x="455050" y="3186973"/>
            <a:ext cx="2758536" cy="3210601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70" name="Google Shape;83;p15">
            <a:extLst>
              <a:ext uri="{FF2B5EF4-FFF2-40B4-BE49-F238E27FC236}">
                <a16:creationId xmlns:a16="http://schemas.microsoft.com/office/drawing/2014/main" id="{18BF07E3-4D17-25E2-6930-E9D2930959A2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3273027" y="3182147"/>
            <a:ext cx="2758536" cy="3210601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71" name="Google Shape;83;p15">
            <a:extLst>
              <a:ext uri="{FF2B5EF4-FFF2-40B4-BE49-F238E27FC236}">
                <a16:creationId xmlns:a16="http://schemas.microsoft.com/office/drawing/2014/main" id="{DE58D3A6-E80F-A0EB-C169-2139DC9190B0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6085757" y="3182147"/>
            <a:ext cx="2808909" cy="3210601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72" name="Google Shape;83;p15">
            <a:extLst>
              <a:ext uri="{FF2B5EF4-FFF2-40B4-BE49-F238E27FC236}">
                <a16:creationId xmlns:a16="http://schemas.microsoft.com/office/drawing/2014/main" id="{A162BF82-1506-6589-4172-B4A4BC8EF5E8}"/>
              </a:ext>
            </a:extLst>
          </p:cNvPr>
          <p:cNvSpPr txBox="1">
            <a:spLocks noGrp="1"/>
          </p:cNvSpPr>
          <p:nvPr>
            <p:ph type="body" idx="25"/>
          </p:nvPr>
        </p:nvSpPr>
        <p:spPr>
          <a:xfrm>
            <a:off x="8915961" y="3182147"/>
            <a:ext cx="2758536" cy="3210601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81AFE813-74C7-89A2-C015-56B8420DAF7C}"/>
              </a:ext>
            </a:extLst>
          </p:cNvPr>
          <p:cNvCxnSpPr>
            <a:cxnSpLocks/>
          </p:cNvCxnSpPr>
          <p:nvPr userDrawn="1"/>
        </p:nvCxnSpPr>
        <p:spPr>
          <a:xfrm flipH="1">
            <a:off x="411947" y="1764724"/>
            <a:ext cx="5665556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5471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プロジェクトキャンバス（BI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11;p16">
            <a:extLst>
              <a:ext uri="{FF2B5EF4-FFF2-40B4-BE49-F238E27FC236}">
                <a16:creationId xmlns:a16="http://schemas.microsoft.com/office/drawing/2014/main" id="{EC1D6462-7946-1950-817D-4461C5B4092C}"/>
              </a:ext>
            </a:extLst>
          </p:cNvPr>
          <p:cNvSpPr/>
          <p:nvPr userDrawn="1"/>
        </p:nvSpPr>
        <p:spPr>
          <a:xfrm>
            <a:off x="446887" y="695627"/>
            <a:ext cx="11231336" cy="5704042"/>
          </a:xfrm>
          <a:prstGeom prst="rect">
            <a:avLst/>
          </a:prstGeom>
          <a:solidFill>
            <a:schemeClr val="l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iraMaruProN-W4"/>
              <a:ea typeface="HiraMaruProN-W4"/>
              <a:cs typeface="HiraMaruProN-W4"/>
              <a:sym typeface="HiraMaruProN-W4"/>
            </a:endParaRPr>
          </a:p>
        </p:txBody>
      </p: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8735F7A5-AECB-EFBF-BD22-AF84C198743D}"/>
              </a:ext>
            </a:extLst>
          </p:cNvPr>
          <p:cNvCxnSpPr>
            <a:cxnSpLocks/>
          </p:cNvCxnSpPr>
          <p:nvPr userDrawn="1"/>
        </p:nvCxnSpPr>
        <p:spPr>
          <a:xfrm>
            <a:off x="6056136" y="2158230"/>
            <a:ext cx="0" cy="4367114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コネクタ 136">
            <a:extLst>
              <a:ext uri="{FF2B5EF4-FFF2-40B4-BE49-F238E27FC236}">
                <a16:creationId xmlns:a16="http://schemas.microsoft.com/office/drawing/2014/main" id="{C1CA8C7E-C549-42B9-2A17-1BEA7A51BEAF}"/>
              </a:ext>
            </a:extLst>
          </p:cNvPr>
          <p:cNvCxnSpPr>
            <a:cxnSpLocks/>
          </p:cNvCxnSpPr>
          <p:nvPr userDrawn="1"/>
        </p:nvCxnSpPr>
        <p:spPr>
          <a:xfrm flipH="1">
            <a:off x="411947" y="1391344"/>
            <a:ext cx="11285326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コネクタ 138">
            <a:extLst>
              <a:ext uri="{FF2B5EF4-FFF2-40B4-BE49-F238E27FC236}">
                <a16:creationId xmlns:a16="http://schemas.microsoft.com/office/drawing/2014/main" id="{9E3665FD-1AD1-FD73-6A59-3C92224DD1F9}"/>
              </a:ext>
            </a:extLst>
          </p:cNvPr>
          <p:cNvCxnSpPr>
            <a:cxnSpLocks/>
          </p:cNvCxnSpPr>
          <p:nvPr userDrawn="1"/>
        </p:nvCxnSpPr>
        <p:spPr>
          <a:xfrm flipH="1">
            <a:off x="411947" y="2155114"/>
            <a:ext cx="11285326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6C646504-DB74-ACF8-121E-C046E5AB4989}"/>
              </a:ext>
            </a:extLst>
          </p:cNvPr>
          <p:cNvCxnSpPr>
            <a:cxnSpLocks/>
          </p:cNvCxnSpPr>
          <p:nvPr userDrawn="1"/>
        </p:nvCxnSpPr>
        <p:spPr>
          <a:xfrm flipH="1">
            <a:off x="411947" y="3980982"/>
            <a:ext cx="5651882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コネクタ 142">
            <a:extLst>
              <a:ext uri="{FF2B5EF4-FFF2-40B4-BE49-F238E27FC236}">
                <a16:creationId xmlns:a16="http://schemas.microsoft.com/office/drawing/2014/main" id="{295A949B-4751-8850-DF73-F0AE6ABADDDF}"/>
              </a:ext>
            </a:extLst>
          </p:cNvPr>
          <p:cNvCxnSpPr>
            <a:cxnSpLocks/>
          </p:cNvCxnSpPr>
          <p:nvPr userDrawn="1"/>
        </p:nvCxnSpPr>
        <p:spPr>
          <a:xfrm>
            <a:off x="4662015" y="660400"/>
            <a:ext cx="0" cy="148590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コネクタ 146">
            <a:extLst>
              <a:ext uri="{FF2B5EF4-FFF2-40B4-BE49-F238E27FC236}">
                <a16:creationId xmlns:a16="http://schemas.microsoft.com/office/drawing/2014/main" id="{3512608D-BD23-77F2-0CB8-9F8E141DB6F6}"/>
              </a:ext>
            </a:extLst>
          </p:cNvPr>
          <p:cNvCxnSpPr>
            <a:cxnSpLocks/>
          </p:cNvCxnSpPr>
          <p:nvPr userDrawn="1"/>
        </p:nvCxnSpPr>
        <p:spPr>
          <a:xfrm>
            <a:off x="8890214" y="660400"/>
            <a:ext cx="0" cy="5739269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コネクタ 148">
            <a:extLst>
              <a:ext uri="{FF2B5EF4-FFF2-40B4-BE49-F238E27FC236}">
                <a16:creationId xmlns:a16="http://schemas.microsoft.com/office/drawing/2014/main" id="{18BB06A5-EC3C-056D-C7B7-FF73EF2ABB63}"/>
              </a:ext>
            </a:extLst>
          </p:cNvPr>
          <p:cNvCxnSpPr>
            <a:cxnSpLocks/>
          </p:cNvCxnSpPr>
          <p:nvPr userDrawn="1"/>
        </p:nvCxnSpPr>
        <p:spPr>
          <a:xfrm>
            <a:off x="3237016" y="2158230"/>
            <a:ext cx="0" cy="4241439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コネクタ 150">
            <a:extLst>
              <a:ext uri="{FF2B5EF4-FFF2-40B4-BE49-F238E27FC236}">
                <a16:creationId xmlns:a16="http://schemas.microsoft.com/office/drawing/2014/main" id="{C831A2F3-1A16-3DC8-0A9D-B126BE0CAE66}"/>
              </a:ext>
            </a:extLst>
          </p:cNvPr>
          <p:cNvCxnSpPr>
            <a:cxnSpLocks/>
          </p:cNvCxnSpPr>
          <p:nvPr userDrawn="1"/>
        </p:nvCxnSpPr>
        <p:spPr>
          <a:xfrm flipH="1">
            <a:off x="8890214" y="3538513"/>
            <a:ext cx="2807059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コネクタ 152">
            <a:extLst>
              <a:ext uri="{FF2B5EF4-FFF2-40B4-BE49-F238E27FC236}">
                <a16:creationId xmlns:a16="http://schemas.microsoft.com/office/drawing/2014/main" id="{7D06B0C7-5BC1-9E99-F17E-DB8AA00AAFB3}"/>
              </a:ext>
            </a:extLst>
          </p:cNvPr>
          <p:cNvCxnSpPr>
            <a:cxnSpLocks/>
          </p:cNvCxnSpPr>
          <p:nvPr userDrawn="1"/>
        </p:nvCxnSpPr>
        <p:spPr>
          <a:xfrm flipH="1">
            <a:off x="8890214" y="4696090"/>
            <a:ext cx="2807059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81FDF30-8143-4C87-BAC7-BDDAB2025AF9}"/>
              </a:ext>
            </a:extLst>
          </p:cNvPr>
          <p:cNvSpPr/>
          <p:nvPr userDrawn="1"/>
        </p:nvSpPr>
        <p:spPr>
          <a:xfrm rot="10800000">
            <a:off x="197399" y="476673"/>
            <a:ext cx="117972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FADF279C-9BFF-4605-8416-0FEA24C615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344" y="128621"/>
            <a:ext cx="11625395" cy="386054"/>
          </a:xfrm>
          <a:prstGeom prst="rect">
            <a:avLst/>
          </a:prstGeom>
          <a:noFill/>
          <a:ln>
            <a:noFill/>
          </a:ln>
        </p:spPr>
        <p:txBody>
          <a:bodyPr wrap="square" lIns="0" tIns="72000" rIns="0" bIns="36000" anchor="t" anchorCtr="0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None/>
              <a:defRPr sz="1800" b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pic>
        <p:nvPicPr>
          <p:cNvPr id="60" name="Google Shape;130;p16">
            <a:extLst>
              <a:ext uri="{FF2B5EF4-FFF2-40B4-BE49-F238E27FC236}">
                <a16:creationId xmlns:a16="http://schemas.microsoft.com/office/drawing/2014/main" id="{1AC62848-0C55-D4A2-CC55-C7BFA19F5588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5544" y="3510077"/>
            <a:ext cx="489372" cy="48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131;p16">
            <a:extLst>
              <a:ext uri="{FF2B5EF4-FFF2-40B4-BE49-F238E27FC236}">
                <a16:creationId xmlns:a16="http://schemas.microsoft.com/office/drawing/2014/main" id="{C5A70333-F06F-75F7-EA7B-BB48EF0E6271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2145" y="5886801"/>
            <a:ext cx="489372" cy="48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132;p16">
            <a:extLst>
              <a:ext uri="{FF2B5EF4-FFF2-40B4-BE49-F238E27FC236}">
                <a16:creationId xmlns:a16="http://schemas.microsoft.com/office/drawing/2014/main" id="{034A7320-5364-A443-69B1-1B0E2A61533B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8301" y="3470036"/>
            <a:ext cx="489372" cy="48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136;p16">
            <a:extLst>
              <a:ext uri="{FF2B5EF4-FFF2-40B4-BE49-F238E27FC236}">
                <a16:creationId xmlns:a16="http://schemas.microsoft.com/office/drawing/2014/main" id="{26D0DD73-81BF-3E77-7B89-7F28E1D1A2D1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6716" y="5868481"/>
            <a:ext cx="473060" cy="48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137;p16">
            <a:extLst>
              <a:ext uri="{FF2B5EF4-FFF2-40B4-BE49-F238E27FC236}">
                <a16:creationId xmlns:a16="http://schemas.microsoft.com/office/drawing/2014/main" id="{597CD30B-36BE-39B7-6DC8-5ADE21B761EF}"/>
              </a:ext>
            </a:extLst>
          </p:cNvPr>
          <p:cNvPicPr preferRelativeResize="0"/>
          <p:nvPr userDrawn="1"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7924" y="5910297"/>
            <a:ext cx="489372" cy="48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138;p16">
            <a:extLst>
              <a:ext uri="{FF2B5EF4-FFF2-40B4-BE49-F238E27FC236}">
                <a16:creationId xmlns:a16="http://schemas.microsoft.com/office/drawing/2014/main" id="{75D16F85-0323-60DF-07EE-0348A5DC9ABA}"/>
              </a:ext>
            </a:extLst>
          </p:cNvPr>
          <p:cNvPicPr preferRelativeResize="0"/>
          <p:nvPr userDrawn="1"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05139" y="910785"/>
            <a:ext cx="438277" cy="438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139;p16">
            <a:extLst>
              <a:ext uri="{FF2B5EF4-FFF2-40B4-BE49-F238E27FC236}">
                <a16:creationId xmlns:a16="http://schemas.microsoft.com/office/drawing/2014/main" id="{5E1C0442-E9B6-F622-2907-82A4B4ADC425}"/>
              </a:ext>
            </a:extLst>
          </p:cNvPr>
          <p:cNvPicPr preferRelativeResize="0"/>
          <p:nvPr userDrawn="1"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42960" y="906780"/>
            <a:ext cx="447254" cy="473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140;p16">
            <a:extLst>
              <a:ext uri="{FF2B5EF4-FFF2-40B4-BE49-F238E27FC236}">
                <a16:creationId xmlns:a16="http://schemas.microsoft.com/office/drawing/2014/main" id="{18820737-6779-E139-D02D-4274120453AE}"/>
              </a:ext>
            </a:extLst>
          </p:cNvPr>
          <p:cNvPicPr preferRelativeResize="0"/>
          <p:nvPr userDrawn="1"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429228" y="1650295"/>
            <a:ext cx="448000" cy="474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141;p16">
            <a:extLst>
              <a:ext uri="{FF2B5EF4-FFF2-40B4-BE49-F238E27FC236}">
                <a16:creationId xmlns:a16="http://schemas.microsoft.com/office/drawing/2014/main" id="{43CF1FBC-7704-9BA3-2CBE-ED4B7E1F0329}"/>
              </a:ext>
            </a:extLst>
          </p:cNvPr>
          <p:cNvPicPr preferRelativeResize="0"/>
          <p:nvPr userDrawn="1"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207178" y="1610149"/>
            <a:ext cx="438277" cy="438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156;p16">
            <a:extLst>
              <a:ext uri="{FF2B5EF4-FFF2-40B4-BE49-F238E27FC236}">
                <a16:creationId xmlns:a16="http://schemas.microsoft.com/office/drawing/2014/main" id="{B1EAFF3D-94B8-DD8E-413D-6DDD93F019FF}"/>
              </a:ext>
            </a:extLst>
          </p:cNvPr>
          <p:cNvPicPr preferRelativeResize="0"/>
          <p:nvPr userDrawn="1"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247121" y="1670115"/>
            <a:ext cx="450152" cy="450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157;p16">
            <a:extLst>
              <a:ext uri="{FF2B5EF4-FFF2-40B4-BE49-F238E27FC236}">
                <a16:creationId xmlns:a16="http://schemas.microsoft.com/office/drawing/2014/main" id="{69F798DA-3416-FB69-1CEE-CA70CCE9E7C8}"/>
              </a:ext>
            </a:extLst>
          </p:cNvPr>
          <p:cNvPicPr preferRelativeResize="0"/>
          <p:nvPr userDrawn="1"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266584" y="899161"/>
            <a:ext cx="433116" cy="43311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72;p15">
            <a:extLst>
              <a:ext uri="{FF2B5EF4-FFF2-40B4-BE49-F238E27FC236}">
                <a16:creationId xmlns:a16="http://schemas.microsoft.com/office/drawing/2014/main" id="{56197895-93D7-ECF5-1EAC-44FD6D736786}"/>
              </a:ext>
            </a:extLst>
          </p:cNvPr>
          <p:cNvSpPr txBox="1"/>
          <p:nvPr userDrawn="1"/>
        </p:nvSpPr>
        <p:spPr>
          <a:xfrm>
            <a:off x="444140" y="695666"/>
            <a:ext cx="569356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テーマ</a:t>
            </a:r>
            <a:endParaRPr sz="10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1" name="Google Shape;72;p15">
            <a:extLst>
              <a:ext uri="{FF2B5EF4-FFF2-40B4-BE49-F238E27FC236}">
                <a16:creationId xmlns:a16="http://schemas.microsoft.com/office/drawing/2014/main" id="{A5332EA4-881A-528F-BB4D-0A5AAACC37CF}"/>
              </a:ext>
            </a:extLst>
          </p:cNvPr>
          <p:cNvSpPr txBox="1"/>
          <p:nvPr userDrawn="1"/>
        </p:nvSpPr>
        <p:spPr>
          <a:xfrm>
            <a:off x="444140" y="1372350"/>
            <a:ext cx="82583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現状の課題</a:t>
            </a:r>
          </a:p>
        </p:txBody>
      </p:sp>
      <p:sp>
        <p:nvSpPr>
          <p:cNvPr id="102" name="Google Shape;72;p15">
            <a:extLst>
              <a:ext uri="{FF2B5EF4-FFF2-40B4-BE49-F238E27FC236}">
                <a16:creationId xmlns:a16="http://schemas.microsoft.com/office/drawing/2014/main" id="{A1E7CD2F-3A01-173C-245D-6AD47C96F1BB}"/>
              </a:ext>
            </a:extLst>
          </p:cNvPr>
          <p:cNvSpPr txBox="1"/>
          <p:nvPr userDrawn="1"/>
        </p:nvSpPr>
        <p:spPr>
          <a:xfrm>
            <a:off x="444140" y="2151033"/>
            <a:ext cx="146703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現在のデータ利用状況</a:t>
            </a:r>
          </a:p>
        </p:txBody>
      </p:sp>
      <p:sp>
        <p:nvSpPr>
          <p:cNvPr id="103" name="Google Shape;72;p15">
            <a:extLst>
              <a:ext uri="{FF2B5EF4-FFF2-40B4-BE49-F238E27FC236}">
                <a16:creationId xmlns:a16="http://schemas.microsoft.com/office/drawing/2014/main" id="{90E45A92-398E-4DFE-0418-3B771F7A02CB}"/>
              </a:ext>
            </a:extLst>
          </p:cNvPr>
          <p:cNvSpPr txBox="1"/>
          <p:nvPr userDrawn="1"/>
        </p:nvSpPr>
        <p:spPr>
          <a:xfrm>
            <a:off x="444140" y="3980982"/>
            <a:ext cx="82583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利用シーン</a:t>
            </a:r>
          </a:p>
        </p:txBody>
      </p:sp>
      <p:sp>
        <p:nvSpPr>
          <p:cNvPr id="104" name="Google Shape;72;p15">
            <a:extLst>
              <a:ext uri="{FF2B5EF4-FFF2-40B4-BE49-F238E27FC236}">
                <a16:creationId xmlns:a16="http://schemas.microsoft.com/office/drawing/2014/main" id="{528F5205-03A6-936F-2004-D7BA11C87C44}"/>
              </a:ext>
            </a:extLst>
          </p:cNvPr>
          <p:cNvSpPr txBox="1"/>
          <p:nvPr userDrawn="1"/>
        </p:nvSpPr>
        <p:spPr>
          <a:xfrm>
            <a:off x="4686639" y="690196"/>
            <a:ext cx="441116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期間</a:t>
            </a:r>
          </a:p>
        </p:txBody>
      </p:sp>
      <p:sp>
        <p:nvSpPr>
          <p:cNvPr id="105" name="Google Shape;72;p15">
            <a:extLst>
              <a:ext uri="{FF2B5EF4-FFF2-40B4-BE49-F238E27FC236}">
                <a16:creationId xmlns:a16="http://schemas.microsoft.com/office/drawing/2014/main" id="{61E3C4D4-42FB-6812-DFFE-42C64009639A}"/>
              </a:ext>
            </a:extLst>
          </p:cNvPr>
          <p:cNvSpPr txBox="1"/>
          <p:nvPr userDrawn="1"/>
        </p:nvSpPr>
        <p:spPr>
          <a:xfrm>
            <a:off x="4686639" y="1377701"/>
            <a:ext cx="133879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ビジネスインパクト</a:t>
            </a:r>
          </a:p>
        </p:txBody>
      </p:sp>
      <p:sp>
        <p:nvSpPr>
          <p:cNvPr id="106" name="Google Shape;72;p15">
            <a:extLst>
              <a:ext uri="{FF2B5EF4-FFF2-40B4-BE49-F238E27FC236}">
                <a16:creationId xmlns:a16="http://schemas.microsoft.com/office/drawing/2014/main" id="{EB9804D7-CAB9-A4E0-DA7B-BF0BCDBE96A6}"/>
              </a:ext>
            </a:extLst>
          </p:cNvPr>
          <p:cNvSpPr txBox="1"/>
          <p:nvPr userDrawn="1"/>
        </p:nvSpPr>
        <p:spPr>
          <a:xfrm>
            <a:off x="8898122" y="684596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着手判断</a:t>
            </a:r>
          </a:p>
        </p:txBody>
      </p:sp>
      <p:sp>
        <p:nvSpPr>
          <p:cNvPr id="107" name="Google Shape;72;p15">
            <a:extLst>
              <a:ext uri="{FF2B5EF4-FFF2-40B4-BE49-F238E27FC236}">
                <a16:creationId xmlns:a16="http://schemas.microsoft.com/office/drawing/2014/main" id="{94DF19C0-8B60-14C6-6A08-F1F7F4BF7F8E}"/>
              </a:ext>
            </a:extLst>
          </p:cNvPr>
          <p:cNvSpPr txBox="1"/>
          <p:nvPr userDrawn="1"/>
        </p:nvSpPr>
        <p:spPr>
          <a:xfrm>
            <a:off x="8898122" y="1372101"/>
            <a:ext cx="146703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データ準備（主担当）</a:t>
            </a:r>
          </a:p>
        </p:txBody>
      </p:sp>
      <p:sp>
        <p:nvSpPr>
          <p:cNvPr id="112" name="Google Shape;72;p15">
            <a:extLst>
              <a:ext uri="{FF2B5EF4-FFF2-40B4-BE49-F238E27FC236}">
                <a16:creationId xmlns:a16="http://schemas.microsoft.com/office/drawing/2014/main" id="{FD729D17-7254-A1BD-3D5B-4798D474ACF1}"/>
              </a:ext>
            </a:extLst>
          </p:cNvPr>
          <p:cNvSpPr txBox="1"/>
          <p:nvPr userDrawn="1"/>
        </p:nvSpPr>
        <p:spPr>
          <a:xfrm>
            <a:off x="3256066" y="2151033"/>
            <a:ext cx="691185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1000" b="0" dirty="0">
                <a:solidFill>
                  <a:srgbClr val="B7B7B7"/>
                </a:solidFill>
              </a:rPr>
              <a:t>BI</a:t>
            </a:r>
            <a:r>
              <a:rPr lang="ja-JP" altLang="en-US" sz="1000" b="0" dirty="0">
                <a:solidFill>
                  <a:srgbClr val="B7B7B7"/>
                </a:solidFill>
              </a:rPr>
              <a:t>ツール</a:t>
            </a:r>
          </a:p>
        </p:txBody>
      </p:sp>
      <p:sp>
        <p:nvSpPr>
          <p:cNvPr id="113" name="Google Shape;72;p15">
            <a:extLst>
              <a:ext uri="{FF2B5EF4-FFF2-40B4-BE49-F238E27FC236}">
                <a16:creationId xmlns:a16="http://schemas.microsoft.com/office/drawing/2014/main" id="{CAA64BB3-59D5-13C6-B28A-3C555D91F0DF}"/>
              </a:ext>
            </a:extLst>
          </p:cNvPr>
          <p:cNvSpPr txBox="1"/>
          <p:nvPr userDrawn="1"/>
        </p:nvSpPr>
        <p:spPr>
          <a:xfrm>
            <a:off x="3256066" y="3980982"/>
            <a:ext cx="108231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想定アクション</a:t>
            </a:r>
          </a:p>
        </p:txBody>
      </p:sp>
      <p:sp>
        <p:nvSpPr>
          <p:cNvPr id="114" name="Google Shape;72;p15">
            <a:extLst>
              <a:ext uri="{FF2B5EF4-FFF2-40B4-BE49-F238E27FC236}">
                <a16:creationId xmlns:a16="http://schemas.microsoft.com/office/drawing/2014/main" id="{017600E5-B3FF-1F3D-8066-3A08B86421A0}"/>
              </a:ext>
            </a:extLst>
          </p:cNvPr>
          <p:cNvSpPr txBox="1"/>
          <p:nvPr userDrawn="1"/>
        </p:nvSpPr>
        <p:spPr>
          <a:xfrm>
            <a:off x="6078647" y="2158230"/>
            <a:ext cx="95407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データソース</a:t>
            </a:r>
          </a:p>
        </p:txBody>
      </p:sp>
      <p:sp>
        <p:nvSpPr>
          <p:cNvPr id="115" name="Google Shape;72;p15">
            <a:extLst>
              <a:ext uri="{FF2B5EF4-FFF2-40B4-BE49-F238E27FC236}">
                <a16:creationId xmlns:a16="http://schemas.microsoft.com/office/drawing/2014/main" id="{1202EBDF-AABA-7321-1711-C0A5128C2D31}"/>
              </a:ext>
            </a:extLst>
          </p:cNvPr>
          <p:cNvSpPr txBox="1"/>
          <p:nvPr userDrawn="1"/>
        </p:nvSpPr>
        <p:spPr>
          <a:xfrm>
            <a:off x="8898122" y="2150100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保存場所</a:t>
            </a:r>
          </a:p>
        </p:txBody>
      </p:sp>
      <p:sp>
        <p:nvSpPr>
          <p:cNvPr id="116" name="Google Shape;72;p15">
            <a:extLst>
              <a:ext uri="{FF2B5EF4-FFF2-40B4-BE49-F238E27FC236}">
                <a16:creationId xmlns:a16="http://schemas.microsoft.com/office/drawing/2014/main" id="{7E463CBE-CB88-FD83-E1A3-A4478F063A43}"/>
              </a:ext>
            </a:extLst>
          </p:cNvPr>
          <p:cNvSpPr txBox="1"/>
          <p:nvPr userDrawn="1"/>
        </p:nvSpPr>
        <p:spPr>
          <a:xfrm>
            <a:off x="8898122" y="3531469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更新頻度</a:t>
            </a:r>
          </a:p>
        </p:txBody>
      </p:sp>
      <p:sp>
        <p:nvSpPr>
          <p:cNvPr id="117" name="Google Shape;72;p15">
            <a:extLst>
              <a:ext uri="{FF2B5EF4-FFF2-40B4-BE49-F238E27FC236}">
                <a16:creationId xmlns:a16="http://schemas.microsoft.com/office/drawing/2014/main" id="{3D77FF6B-11DA-76D0-76F9-43A512E9BEBA}"/>
              </a:ext>
            </a:extLst>
          </p:cNvPr>
          <p:cNvSpPr txBox="1"/>
          <p:nvPr userDrawn="1"/>
        </p:nvSpPr>
        <p:spPr>
          <a:xfrm>
            <a:off x="8898122" y="4696115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個人情報</a:t>
            </a:r>
          </a:p>
        </p:txBody>
      </p:sp>
      <p:sp>
        <p:nvSpPr>
          <p:cNvPr id="64" name="Google Shape;83;p15">
            <a:extLst>
              <a:ext uri="{FF2B5EF4-FFF2-40B4-BE49-F238E27FC236}">
                <a16:creationId xmlns:a16="http://schemas.microsoft.com/office/drawing/2014/main" id="{78710996-CFCD-BFFE-51CB-6313A1FFC4FF}"/>
              </a:ext>
            </a:extLst>
          </p:cNvPr>
          <p:cNvSpPr txBox="1">
            <a:spLocks noGrp="1"/>
          </p:cNvSpPr>
          <p:nvPr>
            <p:ph type="body" idx="17"/>
          </p:nvPr>
        </p:nvSpPr>
        <p:spPr>
          <a:xfrm>
            <a:off x="444140" y="980193"/>
            <a:ext cx="3755989" cy="37771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19" name="Google Shape;83;p15">
            <a:extLst>
              <a:ext uri="{FF2B5EF4-FFF2-40B4-BE49-F238E27FC236}">
                <a16:creationId xmlns:a16="http://schemas.microsoft.com/office/drawing/2014/main" id="{DD1BF05E-EB0E-7EE7-2E73-22596DE791E8}"/>
              </a:ext>
            </a:extLst>
          </p:cNvPr>
          <p:cNvSpPr txBox="1">
            <a:spLocks noGrp="1"/>
          </p:cNvSpPr>
          <p:nvPr>
            <p:ph type="body" idx="26"/>
          </p:nvPr>
        </p:nvSpPr>
        <p:spPr>
          <a:xfrm>
            <a:off x="444140" y="1649222"/>
            <a:ext cx="3755989" cy="457236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20" name="Google Shape;83;p15">
            <a:extLst>
              <a:ext uri="{FF2B5EF4-FFF2-40B4-BE49-F238E27FC236}">
                <a16:creationId xmlns:a16="http://schemas.microsoft.com/office/drawing/2014/main" id="{89300DEC-22A8-66FC-84E1-5D448FEDF7CF}"/>
              </a:ext>
            </a:extLst>
          </p:cNvPr>
          <p:cNvSpPr txBox="1">
            <a:spLocks noGrp="1"/>
          </p:cNvSpPr>
          <p:nvPr>
            <p:ph type="body" idx="27"/>
          </p:nvPr>
        </p:nvSpPr>
        <p:spPr>
          <a:xfrm>
            <a:off x="4686639" y="980193"/>
            <a:ext cx="3755989" cy="37771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21" name="Google Shape;83;p15">
            <a:extLst>
              <a:ext uri="{FF2B5EF4-FFF2-40B4-BE49-F238E27FC236}">
                <a16:creationId xmlns:a16="http://schemas.microsoft.com/office/drawing/2014/main" id="{507F3508-6C6D-2F96-6C06-F71CEC3952BF}"/>
              </a:ext>
            </a:extLst>
          </p:cNvPr>
          <p:cNvSpPr txBox="1">
            <a:spLocks noGrp="1"/>
          </p:cNvSpPr>
          <p:nvPr>
            <p:ph type="body" idx="28"/>
          </p:nvPr>
        </p:nvSpPr>
        <p:spPr>
          <a:xfrm>
            <a:off x="4686639" y="1649222"/>
            <a:ext cx="3755989" cy="457236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22" name="Google Shape;83;p15">
            <a:extLst>
              <a:ext uri="{FF2B5EF4-FFF2-40B4-BE49-F238E27FC236}">
                <a16:creationId xmlns:a16="http://schemas.microsoft.com/office/drawing/2014/main" id="{A057F7C7-670F-2D08-2423-3EF7FFD483D9}"/>
              </a:ext>
            </a:extLst>
          </p:cNvPr>
          <p:cNvSpPr txBox="1">
            <a:spLocks noGrp="1"/>
          </p:cNvSpPr>
          <p:nvPr>
            <p:ph type="body" idx="29"/>
          </p:nvPr>
        </p:nvSpPr>
        <p:spPr>
          <a:xfrm>
            <a:off x="8898122" y="980193"/>
            <a:ext cx="2474940" cy="37771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23" name="Google Shape;83;p15">
            <a:extLst>
              <a:ext uri="{FF2B5EF4-FFF2-40B4-BE49-F238E27FC236}">
                <a16:creationId xmlns:a16="http://schemas.microsoft.com/office/drawing/2014/main" id="{2EC3EF87-D56F-8DCF-A0E4-3D07C6E75B12}"/>
              </a:ext>
            </a:extLst>
          </p:cNvPr>
          <p:cNvSpPr txBox="1">
            <a:spLocks noGrp="1"/>
          </p:cNvSpPr>
          <p:nvPr>
            <p:ph type="body" idx="30"/>
          </p:nvPr>
        </p:nvSpPr>
        <p:spPr>
          <a:xfrm>
            <a:off x="8898122" y="1649222"/>
            <a:ext cx="2474940" cy="457236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72" name="Google Shape;83;p15">
            <a:extLst>
              <a:ext uri="{FF2B5EF4-FFF2-40B4-BE49-F238E27FC236}">
                <a16:creationId xmlns:a16="http://schemas.microsoft.com/office/drawing/2014/main" id="{A162BF82-1506-6589-4172-B4A4BC8EF5E8}"/>
              </a:ext>
            </a:extLst>
          </p:cNvPr>
          <p:cNvSpPr txBox="1">
            <a:spLocks noGrp="1"/>
          </p:cNvSpPr>
          <p:nvPr>
            <p:ph type="body" idx="25"/>
          </p:nvPr>
        </p:nvSpPr>
        <p:spPr>
          <a:xfrm>
            <a:off x="444140" y="2425614"/>
            <a:ext cx="2747189" cy="151386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27" name="Google Shape;83;p15">
            <a:extLst>
              <a:ext uri="{FF2B5EF4-FFF2-40B4-BE49-F238E27FC236}">
                <a16:creationId xmlns:a16="http://schemas.microsoft.com/office/drawing/2014/main" id="{34902433-BEE9-D20B-1C08-B01F13F70D74}"/>
              </a:ext>
            </a:extLst>
          </p:cNvPr>
          <p:cNvSpPr txBox="1">
            <a:spLocks noGrp="1"/>
          </p:cNvSpPr>
          <p:nvPr>
            <p:ph type="body" idx="31"/>
          </p:nvPr>
        </p:nvSpPr>
        <p:spPr>
          <a:xfrm>
            <a:off x="444140" y="4266756"/>
            <a:ext cx="2747189" cy="213291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28" name="Google Shape;83;p15">
            <a:extLst>
              <a:ext uri="{FF2B5EF4-FFF2-40B4-BE49-F238E27FC236}">
                <a16:creationId xmlns:a16="http://schemas.microsoft.com/office/drawing/2014/main" id="{BAE61C6A-F626-2901-05E6-834C9511DB9D}"/>
              </a:ext>
            </a:extLst>
          </p:cNvPr>
          <p:cNvSpPr txBox="1">
            <a:spLocks noGrp="1"/>
          </p:cNvSpPr>
          <p:nvPr>
            <p:ph type="body" idx="32"/>
          </p:nvPr>
        </p:nvSpPr>
        <p:spPr>
          <a:xfrm>
            <a:off x="3256066" y="2425614"/>
            <a:ext cx="2754959" cy="151386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29" name="Google Shape;83;p15">
            <a:extLst>
              <a:ext uri="{FF2B5EF4-FFF2-40B4-BE49-F238E27FC236}">
                <a16:creationId xmlns:a16="http://schemas.microsoft.com/office/drawing/2014/main" id="{11A423DE-042B-BD4F-D7C9-6994E4AE792A}"/>
              </a:ext>
            </a:extLst>
          </p:cNvPr>
          <p:cNvSpPr txBox="1">
            <a:spLocks noGrp="1"/>
          </p:cNvSpPr>
          <p:nvPr>
            <p:ph type="body" idx="33"/>
          </p:nvPr>
        </p:nvSpPr>
        <p:spPr>
          <a:xfrm>
            <a:off x="3256066" y="4266756"/>
            <a:ext cx="2754959" cy="213291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30" name="Google Shape;83;p15">
            <a:extLst>
              <a:ext uri="{FF2B5EF4-FFF2-40B4-BE49-F238E27FC236}">
                <a16:creationId xmlns:a16="http://schemas.microsoft.com/office/drawing/2014/main" id="{0B25AF0E-97DC-DBC5-5760-B419DE6B6D86}"/>
              </a:ext>
            </a:extLst>
          </p:cNvPr>
          <p:cNvSpPr txBox="1">
            <a:spLocks noGrp="1"/>
          </p:cNvSpPr>
          <p:nvPr>
            <p:ph type="body" idx="34"/>
          </p:nvPr>
        </p:nvSpPr>
        <p:spPr>
          <a:xfrm>
            <a:off x="6072538" y="2425614"/>
            <a:ext cx="2790050" cy="396713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33" name="Google Shape;83;p15">
            <a:extLst>
              <a:ext uri="{FF2B5EF4-FFF2-40B4-BE49-F238E27FC236}">
                <a16:creationId xmlns:a16="http://schemas.microsoft.com/office/drawing/2014/main" id="{342D3F99-AAD8-1F9A-AF76-D9A04F97F46C}"/>
              </a:ext>
            </a:extLst>
          </p:cNvPr>
          <p:cNvSpPr txBox="1">
            <a:spLocks noGrp="1"/>
          </p:cNvSpPr>
          <p:nvPr>
            <p:ph type="body" idx="35"/>
          </p:nvPr>
        </p:nvSpPr>
        <p:spPr>
          <a:xfrm>
            <a:off x="8898122" y="2428171"/>
            <a:ext cx="2794090" cy="106647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34" name="Google Shape;83;p15">
            <a:extLst>
              <a:ext uri="{FF2B5EF4-FFF2-40B4-BE49-F238E27FC236}">
                <a16:creationId xmlns:a16="http://schemas.microsoft.com/office/drawing/2014/main" id="{797C6A11-CB60-D27E-79B5-25941DA9DE78}"/>
              </a:ext>
            </a:extLst>
          </p:cNvPr>
          <p:cNvSpPr txBox="1">
            <a:spLocks noGrp="1"/>
          </p:cNvSpPr>
          <p:nvPr>
            <p:ph type="body" idx="36"/>
          </p:nvPr>
        </p:nvSpPr>
        <p:spPr>
          <a:xfrm>
            <a:off x="8898122" y="3795913"/>
            <a:ext cx="2794090" cy="85990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35" name="Google Shape;83;p15">
            <a:extLst>
              <a:ext uri="{FF2B5EF4-FFF2-40B4-BE49-F238E27FC236}">
                <a16:creationId xmlns:a16="http://schemas.microsoft.com/office/drawing/2014/main" id="{7333D95E-634D-5F8A-F92F-556838ADC88D}"/>
              </a:ext>
            </a:extLst>
          </p:cNvPr>
          <p:cNvSpPr txBox="1">
            <a:spLocks noGrp="1"/>
          </p:cNvSpPr>
          <p:nvPr>
            <p:ph type="body" idx="37"/>
          </p:nvPr>
        </p:nvSpPr>
        <p:spPr>
          <a:xfrm>
            <a:off x="8898122" y="4967227"/>
            <a:ext cx="2794090" cy="1432442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26361150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図形&#10;&#10;中程度の精度で自動的に生成された説明">
            <a:extLst>
              <a:ext uri="{FF2B5EF4-FFF2-40B4-BE49-F238E27FC236}">
                <a16:creationId xmlns:a16="http://schemas.microsoft.com/office/drawing/2014/main" id="{94D2CD4C-4822-CAFF-20E9-5A51948FDE18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2" t="15246" r="6717" b="14470"/>
          <a:stretch/>
        </p:blipFill>
        <p:spPr>
          <a:xfrm>
            <a:off x="93091" y="6581341"/>
            <a:ext cx="1022351" cy="21590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32AE64D-40AD-4023-9760-66EFAA281632}"/>
              </a:ext>
            </a:extLst>
          </p:cNvPr>
          <p:cNvSpPr txBox="1"/>
          <p:nvPr userDrawn="1"/>
        </p:nvSpPr>
        <p:spPr>
          <a:xfrm>
            <a:off x="11852518" y="6608500"/>
            <a:ext cx="220146" cy="16158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 defTabSz="1125472"/>
            <a:fld id="{2C7C2846-A269-4DEB-905C-F06515026606}" type="slidenum">
              <a:rPr kumimoji="1" lang="ja-JP" altLang="en-US" sz="1108" b="0" kern="0" smtClean="0">
                <a:solidFill>
                  <a:schemeClr val="tx1">
                    <a:lumMod val="50000"/>
                    <a:lumOff val="50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Arial" panose="020B0604020202020204" pitchFamily="34" charset="0"/>
                <a:sym typeface="Arial"/>
              </a:rPr>
              <a:pPr algn="r" defTabSz="1125472"/>
              <a:t>‹#›</a:t>
            </a:fld>
            <a:endParaRPr kumimoji="1" lang="ja-JP" altLang="en-US" sz="1292" b="0" kern="0" dirty="0">
              <a:solidFill>
                <a:schemeClr val="tx1">
                  <a:lumMod val="50000"/>
                  <a:lumOff val="50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6D4B9AC-0E8C-4A2F-A0F3-CCB44F6F6F50}"/>
              </a:ext>
            </a:extLst>
          </p:cNvPr>
          <p:cNvSpPr txBox="1"/>
          <p:nvPr userDrawn="1"/>
        </p:nvSpPr>
        <p:spPr>
          <a:xfrm>
            <a:off x="1161356" y="6573875"/>
            <a:ext cx="12339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b="0" i="0" kern="100" spc="40" baseline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源ノ角ゴシック JP" panose="020B0500000000000000" pitchFamily="34" charset="-128"/>
                <a:cs typeface="Arial" panose="020B0604020202020204" pitchFamily="34" charset="0"/>
              </a:rPr>
              <a:t>© 2026 Exture Inc.</a:t>
            </a:r>
            <a:endParaRPr kumimoji="1" lang="ja-JP" altLang="en-US" sz="900" kern="100" spc="40" baseline="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源ノ角ゴシック JP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B76C41B-5370-9296-D423-D1F3C3F1FE4F}"/>
              </a:ext>
            </a:extLst>
          </p:cNvPr>
          <p:cNvSpPr txBox="1"/>
          <p:nvPr userDrawn="1"/>
        </p:nvSpPr>
        <p:spPr>
          <a:xfrm>
            <a:off x="14101610" y="16895"/>
            <a:ext cx="823427" cy="137854"/>
          </a:xfrm>
          <a:prstGeom prst="rect">
            <a:avLst/>
          </a:prstGeom>
          <a:noFill/>
        </p:spPr>
        <p:txBody>
          <a:bodyPr wrap="none" lIns="36000" tIns="0" rIns="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600" b="0" spc="0" baseline="0" dirty="0" err="1">
                <a:solidFill>
                  <a:schemeClr val="bg1">
                    <a:lumMod val="65000"/>
                  </a:schemeClr>
                </a:solidFill>
              </a:rPr>
              <a:t>Exture</a:t>
            </a:r>
            <a:r>
              <a:rPr kumimoji="1" lang="en-US" altLang="ja-JP" sz="600" b="0" spc="0" baseline="0" dirty="0">
                <a:solidFill>
                  <a:schemeClr val="bg1">
                    <a:lumMod val="65000"/>
                  </a:schemeClr>
                </a:solidFill>
              </a:rPr>
              <a:t> Standard color</a:t>
            </a:r>
            <a:endParaRPr kumimoji="1" lang="ja-JP" altLang="en-US" sz="600" b="0" spc="0" baseline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226F472-6ECD-B24C-058F-29053ABC48A5}"/>
              </a:ext>
            </a:extLst>
          </p:cNvPr>
          <p:cNvSpPr txBox="1"/>
          <p:nvPr userDrawn="1"/>
        </p:nvSpPr>
        <p:spPr>
          <a:xfrm>
            <a:off x="-2400944" y="243409"/>
            <a:ext cx="578167" cy="171645"/>
          </a:xfrm>
          <a:prstGeom prst="rect">
            <a:avLst/>
          </a:prstGeom>
          <a:noFill/>
        </p:spPr>
        <p:txBody>
          <a:bodyPr wrap="none" lIns="36000" tIns="0" rIns="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panose="020B0604020202020204" pitchFamily="34" charset="0"/>
              </a:rPr>
              <a:t>2025/07/14</a:t>
            </a:r>
            <a:endParaRPr kumimoji="1" lang="ja-JP" altLang="en-US" sz="800" dirty="0">
              <a:solidFill>
                <a:schemeClr val="bg1">
                  <a:lumMod val="75000"/>
                </a:schemeClr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9BF7AA6-F79A-4EE1-0B1B-445770F7BEFF}"/>
              </a:ext>
            </a:extLst>
          </p:cNvPr>
          <p:cNvSpPr txBox="1"/>
          <p:nvPr userDrawn="1"/>
        </p:nvSpPr>
        <p:spPr>
          <a:xfrm>
            <a:off x="-2400944" y="0"/>
            <a:ext cx="472368" cy="171645"/>
          </a:xfrm>
          <a:prstGeom prst="rect">
            <a:avLst/>
          </a:prstGeom>
          <a:noFill/>
        </p:spPr>
        <p:txBody>
          <a:bodyPr wrap="none" lIns="36000" tIns="0" rIns="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panose="020B0604020202020204" pitchFamily="34" charset="0"/>
              </a:rPr>
              <a:t>2025</a:t>
            </a:r>
            <a:r>
              <a:rPr kumimoji="1" lang="ja-JP" altLang="en-US" sz="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panose="020B0604020202020204" pitchFamily="34" charset="0"/>
              </a:rPr>
              <a:t>年用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A4957CC-1108-3A15-1F18-80200967643D}"/>
              </a:ext>
            </a:extLst>
          </p:cNvPr>
          <p:cNvSpPr/>
          <p:nvPr userDrawn="1"/>
        </p:nvSpPr>
        <p:spPr>
          <a:xfrm>
            <a:off x="13662670" y="233263"/>
            <a:ext cx="360040" cy="171645"/>
          </a:xfrm>
          <a:prstGeom prst="roundRect">
            <a:avLst>
              <a:gd name="adj" fmla="val 33315"/>
            </a:avLst>
          </a:prstGeom>
          <a:solidFill>
            <a:srgbClr val="6FBA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4D81EE72-4642-7B03-0D58-AE1A86DF426C}"/>
              </a:ext>
            </a:extLst>
          </p:cNvPr>
          <p:cNvSpPr/>
          <p:nvPr userDrawn="1"/>
        </p:nvSpPr>
        <p:spPr>
          <a:xfrm>
            <a:off x="13662670" y="466526"/>
            <a:ext cx="360040" cy="171645"/>
          </a:xfrm>
          <a:prstGeom prst="roundRect">
            <a:avLst>
              <a:gd name="adj" fmla="val 33315"/>
            </a:avLst>
          </a:prstGeom>
          <a:solidFill>
            <a:srgbClr val="5E9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EF0C4E87-D343-D643-FC8F-CF5601184E66}"/>
              </a:ext>
            </a:extLst>
          </p:cNvPr>
          <p:cNvSpPr/>
          <p:nvPr userDrawn="1"/>
        </p:nvSpPr>
        <p:spPr>
          <a:xfrm>
            <a:off x="13662670" y="699789"/>
            <a:ext cx="360040" cy="171645"/>
          </a:xfrm>
          <a:prstGeom prst="roundRect">
            <a:avLst>
              <a:gd name="adj" fmla="val 33315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E1EA4244-31F7-6DA5-25C0-9A2066CADC09}"/>
              </a:ext>
            </a:extLst>
          </p:cNvPr>
          <p:cNvSpPr/>
          <p:nvPr userDrawn="1"/>
        </p:nvSpPr>
        <p:spPr>
          <a:xfrm>
            <a:off x="13662670" y="935756"/>
            <a:ext cx="360040" cy="171645"/>
          </a:xfrm>
          <a:prstGeom prst="roundRect">
            <a:avLst>
              <a:gd name="adj" fmla="val 3331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9F95F857-E518-9E1E-B196-CB615D6F637C}"/>
              </a:ext>
            </a:extLst>
          </p:cNvPr>
          <p:cNvSpPr/>
          <p:nvPr userDrawn="1"/>
        </p:nvSpPr>
        <p:spPr>
          <a:xfrm>
            <a:off x="13662670" y="1171723"/>
            <a:ext cx="360040" cy="171645"/>
          </a:xfrm>
          <a:prstGeom prst="roundRect">
            <a:avLst>
              <a:gd name="adj" fmla="val 333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6F81767D-5210-E70D-BBF1-81E1F6BA8465}"/>
              </a:ext>
            </a:extLst>
          </p:cNvPr>
          <p:cNvSpPr/>
          <p:nvPr userDrawn="1"/>
        </p:nvSpPr>
        <p:spPr>
          <a:xfrm>
            <a:off x="13662670" y="1401278"/>
            <a:ext cx="360040" cy="171645"/>
          </a:xfrm>
          <a:prstGeom prst="roundRect">
            <a:avLst>
              <a:gd name="adj" fmla="val 33315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397946AC-5D8E-51D3-AC2F-9367CD8D849D}"/>
              </a:ext>
            </a:extLst>
          </p:cNvPr>
          <p:cNvSpPr/>
          <p:nvPr userDrawn="1"/>
        </p:nvSpPr>
        <p:spPr>
          <a:xfrm>
            <a:off x="13662670" y="1632346"/>
            <a:ext cx="360040" cy="171645"/>
          </a:xfrm>
          <a:prstGeom prst="roundRect">
            <a:avLst>
              <a:gd name="adj" fmla="val 33315"/>
            </a:avLst>
          </a:prstGeom>
          <a:solidFill>
            <a:srgbClr val="F4F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442AA6D-D100-2EF1-3601-A36707BBA7E8}"/>
              </a:ext>
            </a:extLst>
          </p:cNvPr>
          <p:cNvSpPr txBox="1"/>
          <p:nvPr userDrawn="1"/>
        </p:nvSpPr>
        <p:spPr>
          <a:xfrm>
            <a:off x="14086242" y="236567"/>
            <a:ext cx="919089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源ノ角ゴシック JP"/>
                <a:ea typeface="源ノ角ゴシック JP"/>
                <a:cs typeface="+mn-cs"/>
              </a:rPr>
              <a:t>エクスチュア・グリーン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02F1FF4-4E9C-C511-38DC-74A25A21C231}"/>
              </a:ext>
            </a:extLst>
          </p:cNvPr>
          <p:cNvSpPr txBox="1"/>
          <p:nvPr userDrawn="1"/>
        </p:nvSpPr>
        <p:spPr>
          <a:xfrm>
            <a:off x="14086242" y="469747"/>
            <a:ext cx="919089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r>
              <a:rPr kumimoji="1" lang="ja-JP" altLang="en-US" sz="6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アクセントカラー（緑）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8D13B82-968B-8691-E57A-73AA0C1486E9}"/>
              </a:ext>
            </a:extLst>
          </p:cNvPr>
          <p:cNvSpPr txBox="1"/>
          <p:nvPr userDrawn="1"/>
        </p:nvSpPr>
        <p:spPr>
          <a:xfrm>
            <a:off x="14086242" y="702927"/>
            <a:ext cx="1072977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r>
              <a:rPr kumimoji="1" lang="ja-JP" altLang="en-US" sz="6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アクセントカラー（濃い赤）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71E7F24-AAB9-7A34-EA53-6505E730999C}"/>
              </a:ext>
            </a:extLst>
          </p:cNvPr>
          <p:cNvSpPr txBox="1"/>
          <p:nvPr userDrawn="1"/>
        </p:nvSpPr>
        <p:spPr>
          <a:xfrm>
            <a:off x="14086242" y="936107"/>
            <a:ext cx="919089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r>
              <a:rPr kumimoji="1" lang="ja-JP" altLang="en-US" sz="6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フォント（濃いグレー）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F303B18-1B8B-B79B-A2EA-9C44F30E5B98}"/>
              </a:ext>
            </a:extLst>
          </p:cNvPr>
          <p:cNvSpPr txBox="1"/>
          <p:nvPr userDrawn="1"/>
        </p:nvSpPr>
        <p:spPr>
          <a:xfrm>
            <a:off x="14086242" y="1169288"/>
            <a:ext cx="765200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r>
              <a:rPr kumimoji="1" lang="ja-JP" altLang="en-US" sz="6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強調テキスト（黒）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9B6B676-1164-6A1F-696B-CCB6812F2963}"/>
              </a:ext>
            </a:extLst>
          </p:cNvPr>
          <p:cNvSpPr txBox="1"/>
          <p:nvPr userDrawn="1"/>
        </p:nvSpPr>
        <p:spPr>
          <a:xfrm>
            <a:off x="14086242" y="1402469"/>
            <a:ext cx="765200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r>
              <a:rPr kumimoji="1" lang="ja-JP" altLang="en-US" sz="6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枠線（薄いグレー）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CA20364-0717-6D7E-91AA-9FD7AB2F849D}"/>
              </a:ext>
            </a:extLst>
          </p:cNvPr>
          <p:cNvSpPr txBox="1"/>
          <p:nvPr userDrawn="1"/>
        </p:nvSpPr>
        <p:spPr>
          <a:xfrm>
            <a:off x="14086242" y="1635650"/>
            <a:ext cx="1072977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r>
              <a:rPr kumimoji="1" lang="ja-JP" altLang="en-US" sz="6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スライド背景（ごく薄い緑）</a:t>
            </a:r>
          </a:p>
        </p:txBody>
      </p:sp>
    </p:spTree>
    <p:extLst>
      <p:ext uri="{BB962C8B-B14F-4D97-AF65-F5344CB8AC3E}">
        <p14:creationId xmlns:p14="http://schemas.microsoft.com/office/powerpoint/2010/main" val="310432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14" r:id="rId2"/>
    <p:sldLayoutId id="2147483721" r:id="rId3"/>
    <p:sldLayoutId id="2147483705" r:id="rId4"/>
    <p:sldLayoutId id="2147483706" r:id="rId5"/>
    <p:sldLayoutId id="2147483722" r:id="rId6"/>
    <p:sldLayoutId id="2147483723" r:id="rId7"/>
    <p:sldLayoutId id="2147483724" r:id="rId8"/>
    <p:sldLayoutId id="2147483708" r:id="rId9"/>
    <p:sldLayoutId id="2147483711" r:id="rId10"/>
    <p:sldLayoutId id="2147483710" r:id="rId11"/>
    <p:sldLayoutId id="2147483715" r:id="rId12"/>
    <p:sldLayoutId id="2147483725" r:id="rId13"/>
    <p:sldLayoutId id="2147483726" r:id="rId14"/>
    <p:sldLayoutId id="2147483719" r:id="rId15"/>
    <p:sldLayoutId id="2147483718" r:id="rId16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Snowflake 接続手順書</a:t>
            </a:r>
          </a:p>
          <a:p>
            <a:r>
              <a:t>Tableau Cloud からのデータ参照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フジテック株式会社　御中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本資料は Tableau Cloud から Snowflake 上の営業データを参照するための接続手順です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/>
            <a:r>
              <a:t>1. はじめに（目的・前提・全体構成）</a:t>
            </a:r>
          </a:p>
          <a:p>
            <a:pPr/>
            <a:r>
              <a:t>2. 役割分担</a:t>
            </a:r>
          </a:p>
          <a:p>
            <a:pPr/>
            <a:r>
              <a:t>3. 事前準備 － 貴社からご共有いただく情報</a:t>
            </a:r>
          </a:p>
          <a:p>
            <a:pPr/>
            <a:r>
              <a:t>4. 接続情報一覧</a:t>
            </a:r>
          </a:p>
          <a:p>
            <a:pPr/>
            <a:r>
              <a:t>5. Tableau Cloud での接続手順（①〜⑥）</a:t>
            </a:r>
          </a:p>
          <a:p>
            <a:pPr/>
            <a:r>
              <a:t>6. 利用上の注意</a:t>
            </a:r>
          </a:p>
          <a:p>
            <a:pPr/>
            <a:r>
              <a:t>7. トラブルシューティング</a:t>
            </a:r>
          </a:p>
          <a:p>
            <a:pPr/>
            <a:r>
              <a:t>8. PAT（アクセストークン）の運用</a:t>
            </a:r>
          </a:p>
          <a:p>
            <a:pPr/>
            <a:r>
              <a:t>付録. 弊社側 Snowflake 設定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はじめに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Salesforce 由来の営業データ（Snowflake 上のマート）を Tableau Cloud から参照します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/>
            <a:r>
              <a:t>対象データ</a:t>
            </a:r>
          </a:p>
          <a:p>
            <a:pPr lvl="1"/>
            <a:r>
              <a:t>商談品目ワイドテーブル（1 行 = 商談 × 商品明細、全ディメンション結合済み）</a:t>
            </a:r>
          </a:p>
          <a:p>
            <a:pPr/>
            <a:r>
              <a:t>接続方式</a:t>
            </a:r>
          </a:p>
          <a:p>
            <a:pPr lvl="1"/>
            <a:r>
              <a:t>PAT（Programmatic Access Token）による認証。参照専用のサービスユーザー SVC_TABLEAU を使用</a:t>
            </a:r>
          </a:p>
          <a:p>
            <a:pPr/>
            <a:r>
              <a:t>前提</a:t>
            </a:r>
          </a:p>
          <a:p>
            <a:pPr lvl="1"/>
            <a:r>
              <a:t>Snowflake 環境（DB・ロール・マート）は構築済み</a:t>
            </a:r>
          </a:p>
          <a:p>
            <a:pPr lvl="1"/>
            <a:r>
              <a:t>Tableau は Tableau Cloud を利用</a:t>
            </a:r>
          </a:p>
          <a:p>
            <a:pPr lvl="1"/>
            <a:r>
              <a:t>Snowflake 側のユーザー・権限・トークン発行は弊社（エクスチュア）が実施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全体構成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94560"/>
            <a:ext cx="3200400" cy="1554480"/>
          </a:xfrm>
          <a:prstGeom prst="roundRect">
            <a:avLst/>
          </a:prstGeom>
          <a:solidFill>
            <a:srgbClr val="EEF3E9"/>
          </a:solidFill>
          <a:ln w="12700">
            <a:solidFill>
              <a:srgbClr val="5E9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303030"/>
                </a:solidFill>
              </a:rPr>
              <a:t>Salesforce</a:t>
            </a:r>
          </a:p>
          <a:p>
            <a:pPr algn="ctr"/>
            <a:r>
              <a:rPr sz="1050">
                <a:solidFill>
                  <a:srgbClr val="303030"/>
                </a:solidFill>
              </a:rPr>
              <a:t>営業データの源泉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977639" y="2743200"/>
            <a:ext cx="640080" cy="457200"/>
          </a:xfrm>
          <a:prstGeom prst="rightArrow">
            <a:avLst/>
          </a:pr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09160" y="2194560"/>
            <a:ext cx="3200400" cy="1554480"/>
          </a:xfrm>
          <a:prstGeom prst="roundRect">
            <a:avLst/>
          </a:prstGeom>
          <a:solidFill>
            <a:srgbClr val="EEF3E9"/>
          </a:solidFill>
          <a:ln w="12700">
            <a:solidFill>
              <a:srgbClr val="5E9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303030"/>
                </a:solidFill>
              </a:rPr>
              <a:t>Snowflake</a:t>
            </a:r>
          </a:p>
          <a:p>
            <a:pPr algn="ctr"/>
            <a:r>
              <a:rPr sz="1050">
                <a:solidFill>
                  <a:srgbClr val="303030"/>
                </a:solidFill>
              </a:rPr>
              <a:t>dbt でマートに整形
SALES.ANALYTICS_MARTS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46720" y="2743200"/>
            <a:ext cx="640080" cy="457200"/>
          </a:xfrm>
          <a:prstGeom prst="rightArrow">
            <a:avLst/>
          </a:pr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78240" y="2194560"/>
            <a:ext cx="3200400" cy="1554480"/>
          </a:xfrm>
          <a:prstGeom prst="roundRect">
            <a:avLst/>
          </a:prstGeom>
          <a:solidFill>
            <a:srgbClr val="EEF3E9"/>
          </a:solidFill>
          <a:ln w="12700">
            <a:solidFill>
              <a:srgbClr val="5E9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303030"/>
                </a:solidFill>
              </a:rPr>
              <a:t>Tableau Cloud</a:t>
            </a:r>
          </a:p>
          <a:p>
            <a:pPr algn="ctr"/>
            <a:r>
              <a:rPr sz="1050">
                <a:solidFill>
                  <a:srgbClr val="303030"/>
                </a:solidFill>
              </a:rPr>
              <a:t>ダッシュボード作成・共有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03030"/>
                </a:solidFill>
              </a:rPr>
              <a:t>• Tableau Cloud → Snowflake の接続は サービスユーザー SVC_TABLEAU / PAT 認証 / 参照専用（SELECT のみ）</a:t>
            </a:r>
          </a:p>
          <a:p>
            <a:r>
              <a:rPr sz="1200" b="0">
                <a:solidFill>
                  <a:srgbClr val="303030"/>
                </a:solidFill>
              </a:rPr>
              <a:t>• 接続先: SALES.ANALYTICS_MARTS.GOLD_OPPORTUNITY_LINE_ITEM_WIDE（日本語カラム名）</a:t>
            </a:r>
          </a:p>
          <a:p>
            <a:r>
              <a:rPr sz="1200" b="0">
                <a:solidFill>
                  <a:srgbClr val="303030"/>
                </a:solidFill>
              </a:rPr>
              <a:t>• Snowflake 側のアクセス元 IP はネットワークポリシーで許可リスト制限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役割分担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8872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7589520"/>
                <a:gridCol w="2743200"/>
              </a:tblGrid>
              <a:tr h="47026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73152" marR="73152" marT="36576" marB="36576" anchor="ctr">
                    <a:solidFill>
                      <a:srgbClr val="5E91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作業</a:t>
                      </a:r>
                    </a:p>
                  </a:txBody>
                  <a:tcPr marL="73152" marR="73152" marT="36576" marB="36576" anchor="ctr">
                    <a:solidFill>
                      <a:srgbClr val="5E91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担当</a:t>
                      </a:r>
                    </a:p>
                  </a:txBody>
                  <a:tcPr marL="73152" marR="73152" marT="36576" marB="36576" anchor="ctr">
                    <a:solidFill>
                      <a:srgbClr val="5E913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Tableau Cloud サイトの Pod（リージョン）と Egress IP レンジのご共有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貴社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Snowflake 側のユーザー・権限・ネットワークポリシー作成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弊社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PAT（トークン）の発行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弊社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PAT・接続情報の受け渡し（安全な経路で）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弊社 → 貴社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Tableau Cloud でのデータソース作成・パブリッシュ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貴社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PAT 有効期限前のローテーションと再連携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弊社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846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303030"/>
                </a:solidFill>
              </a:rPr>
              <a:t>本資料の主対象は #1・#5（貴社作業）です。#2〜#4 の内容は付録を参照ください。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事前準備 － 貴社からご共有いただく情報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Snowflake 側で接続元 IP を許可リスト方式で制限するため、以下をご共有ください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/>
            <a:r>
              <a:t>① Tableau Cloud サイトの Pod 名 / デプロイ先リージョン</a:t>
            </a:r>
          </a:p>
          <a:p>
            <a:pPr lvl="1"/>
            <a:r>
              <a:t>サイト URL のサブドメイン（例: 10ax、us-east-1、eu-west-1a 等）</a:t>
            </a:r>
          </a:p>
          <a:p>
            <a:pPr lvl="1"/>
            <a:r>
              <a:t>管理者メニュー →「設定」→ サーバー情報 でも確認可能</a:t>
            </a:r>
          </a:p>
          <a:p>
            <a:pPr/>
            <a:r>
              <a:t>② 上記 Pod の Egress IP アドレス / CIDR レンジ</a:t>
            </a:r>
          </a:p>
          <a:p>
            <a:pPr lvl="1"/>
            <a:r>
              <a:t>Tableau が Pod 単位で公開（ヘルプ「IP アドレスとエンドポイントの許可リスト登録」）</a:t>
            </a:r>
          </a:p>
          <a:p>
            <a:pPr/>
            <a:r>
              <a:t>補足</a:t>
            </a:r>
          </a:p>
          <a:p>
            <a:pPr lvl="1"/>
            <a:r>
              <a:t>IP を絞らない運用（認証ポリシーで IP 要件を外す）も可能です。方針変更時はご相談ください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接続情報一覧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4300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023360"/>
                <a:gridCol w="4297680"/>
              </a:tblGrid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5E91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値</a:t>
                      </a:r>
                    </a:p>
                  </a:txBody>
                  <a:tcPr marL="73152" marR="73152" marT="36576" marB="36576" anchor="ctr">
                    <a:solidFill>
                      <a:srgbClr val="5E91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備考</a:t>
                      </a:r>
                    </a:p>
                  </a:txBody>
                  <a:tcPr marL="73152" marR="73152" marT="36576" marB="36576" anchor="ctr">
                    <a:solidFill>
                      <a:srgbClr val="5E91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03030"/>
                          </a:solidFill>
                        </a:rPr>
                        <a:t>Snowflake アカウント URL</a:t>
                      </a:r>
                    </a:p>
                  </a:txBody>
                  <a:tcPr marL="73152" marR="73152" marT="36576" marB="36576" anchor="ctr">
                    <a:solidFill>
                      <a:srgbClr val="EE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弊社より別途ご連携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例: xxxxx-xxxxx.snowflakecomputing.com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03030"/>
                          </a:solidFill>
                        </a:rPr>
                        <a:t>ユーザー名</a:t>
                      </a:r>
                    </a:p>
                  </a:txBody>
                  <a:tcPr marL="73152" marR="73152" marT="36576" marB="36576" anchor="ctr">
                    <a:solidFill>
                      <a:srgbClr val="EE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SVC_TABLEAU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固定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03030"/>
                          </a:solidFill>
                        </a:rPr>
                        <a:t>パスワード欄に入れる値</a:t>
                      </a:r>
                    </a:p>
                  </a:txBody>
                  <a:tcPr marL="73152" marR="73152" marT="36576" marB="36576" anchor="ctr">
                    <a:solidFill>
                      <a:srgbClr val="EE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PAT トークン（弊社より別送）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パスワードではなく PAT を入力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03030"/>
                          </a:solidFill>
                        </a:rPr>
                        <a:t>ロール</a:t>
                      </a:r>
                    </a:p>
                  </a:txBody>
                  <a:tcPr marL="73152" marR="73152" marT="36576" marB="36576" anchor="ctr">
                    <a:solidFill>
                      <a:srgbClr val="EE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SALES_USER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03030"/>
                          </a:solidFill>
                        </a:rPr>
                        <a:t>ウェアハウス</a:t>
                      </a:r>
                    </a:p>
                  </a:txBody>
                  <a:tcPr marL="73152" marR="73152" marT="36576" marB="36576" anchor="ctr">
                    <a:solidFill>
                      <a:srgbClr val="EE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SALES_WH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自動起動 / 60 秒で自動停止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03030"/>
                          </a:solidFill>
                        </a:rPr>
                        <a:t>データベース / スキーマ</a:t>
                      </a:r>
                    </a:p>
                  </a:txBody>
                  <a:tcPr marL="73152" marR="73152" marT="36576" marB="36576" anchor="ctr">
                    <a:solidFill>
                      <a:srgbClr val="EE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SALES / ANALYTICS_MARTS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03030"/>
                          </a:solidFill>
                        </a:rPr>
                        <a:t>接続先テーブル</a:t>
                      </a:r>
                    </a:p>
                  </a:txBody>
                  <a:tcPr marL="73152" marR="73152" marT="36576" marB="36576" anchor="ctr">
                    <a:solidFill>
                      <a:srgbClr val="EE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GOLD_OPPORTUNITY_LINE_ITEM_WIDE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日本語カラム名（例:「案件名」「合計金額」）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PAT は機密情報です。平文メールを避け、パスワード共有ツール等でお渡しします。有効期限は 90 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接続手順 ① 接続の開始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Tableau Cloud（ブラウザ）または Tableau Desktop から作成できます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/>
            <a:r>
              <a:t>Tableau Cloud にサインイン</a:t>
            </a:r>
          </a:p>
          <a:p>
            <a:pPr/>
            <a:r>
              <a:t>「新規」→「データソース」を選択</a:t>
            </a:r>
          </a:p>
          <a:p>
            <a:pPr/>
            <a:r>
              <a:t>コネクタ一覧から Snowflake を選択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360" y="3383280"/>
            <a:ext cx="6400800" cy="2743200"/>
          </a:xfrm>
          <a:prstGeom prst="rect">
            <a:avLst/>
          </a:prstGeom>
          <a:solidFill>
            <a:srgbClr val="F2F2F2"/>
          </a:solidFill>
          <a:ln w="9525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A5A5A5"/>
                </a:solidFill>
              </a:rPr>
              <a:t>［スクリーンショット挿入予定］
（コネクタ選択画面）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接続手順 ② サーバーと認証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認証は「ユーザー名とパスワード」を選び、パスワード欄に PAT を貼り付けます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/>
            <a:r>
              <a:t>サーバー: 受領した Snowflake アカウント URL</a:t>
            </a:r>
          </a:p>
          <a:p>
            <a:pPr/>
            <a:r>
              <a:t>認証: ユーザー名とパスワード</a:t>
            </a:r>
          </a:p>
          <a:p>
            <a:pPr lvl="1"/>
            <a:r>
              <a:t>ユーザー名: SVC_TABLEAU</a:t>
            </a:r>
          </a:p>
          <a:p>
            <a:pPr lvl="1"/>
            <a:r>
              <a:t>パスワード: PAT トークンをそのまま貼り付け</a:t>
            </a:r>
          </a:p>
          <a:p>
            <a:pPr/>
            <a:r>
              <a:t>「サインイン」をクリック</a:t>
            </a:r>
          </a:p>
          <a:p>
            <a:pPr lvl="1"/>
            <a:r>
              <a:t>Snowflake の PAT はパスワードの代替。専用の認証方式は不要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360" y="3383280"/>
            <a:ext cx="6400800" cy="2743200"/>
          </a:xfrm>
          <a:prstGeom prst="rect">
            <a:avLst/>
          </a:prstGeom>
          <a:solidFill>
            <a:srgbClr val="F2F2F2"/>
          </a:solidFill>
          <a:ln w="9525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A5A5A5"/>
                </a:solidFill>
              </a:rPr>
              <a:t>［スクリーンショット挿入予定］
（サーバー・認証情報の入力画面）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接続手順 ③ ロール・ウェアハウス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接続後の詳細設定で指定します（プルダウンに表示されます）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/>
            <a:r>
              <a:t>ロール: SALES_USER</a:t>
            </a:r>
          </a:p>
          <a:p>
            <a:pPr/>
            <a:r>
              <a:t>ウェアハウス: SALES_WH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360" y="3383280"/>
            <a:ext cx="6400800" cy="2743200"/>
          </a:xfrm>
          <a:prstGeom prst="rect">
            <a:avLst/>
          </a:prstGeom>
          <a:solidFill>
            <a:srgbClr val="F2F2F2"/>
          </a:solidFill>
          <a:ln w="9525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A5A5A5"/>
                </a:solidFill>
              </a:rPr>
              <a:t>［スクリーンショット挿入予定］
（ロール / ウェアハウス選択）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接続手順 ④ テーブルの選択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 テーブルのみで完結します（結合不要）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/>
            <a:r>
              <a:t>データベース: SALES</a:t>
            </a:r>
          </a:p>
          <a:p>
            <a:pPr/>
            <a:r>
              <a:t>スキーマ: ANALYTICS_MARTS</a:t>
            </a:r>
          </a:p>
          <a:p>
            <a:pPr/>
            <a:r>
              <a:t>テーブル: GOLD_OPPORTUNITY_LINE_ITEM_WIDE をキャンバスにドラッグ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360" y="3383280"/>
            <a:ext cx="6400800" cy="2743200"/>
          </a:xfrm>
          <a:prstGeom prst="rect">
            <a:avLst/>
          </a:prstGeom>
          <a:solidFill>
            <a:srgbClr val="F2F2F2"/>
          </a:solidFill>
          <a:ln w="9525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A5A5A5"/>
                </a:solidFill>
              </a:rPr>
              <a:t>［スクリーンショット挿入予定］
（テーブル選択・キャンバス）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接続手順 ⑤ 接続モード ／ ⑥ パブリッシュ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PoC ではライブ接続を推奨します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/>
            <a:r>
              <a:t>⑤ 接続モード</a:t>
            </a:r>
          </a:p>
          <a:p>
            <a:pPr lvl="1"/>
            <a:r>
              <a:t>ライブ接続を推奨（データ量が少なく、SALES_WH は自動起動のため）</a:t>
            </a:r>
          </a:p>
          <a:p>
            <a:pPr lvl="1"/>
            <a:r>
              <a:t>抽出にする場合はパブリッシュ後にスケジュール更新を設定</a:t>
            </a:r>
          </a:p>
          <a:p>
            <a:pPr/>
            <a:r>
              <a:t>⑥ パブリッシュ</a:t>
            </a:r>
          </a:p>
          <a:p>
            <a:pPr lvl="1"/>
            <a:r>
              <a:t>データソース名を付けて Tableau Cloud にパブリッシュ</a:t>
            </a:r>
          </a:p>
          <a:p>
            <a:pPr lvl="1"/>
            <a:r>
              <a:t>認証情報は「埋め込みパスワード」（＝埋め込み PAT）を選択</a:t>
            </a:r>
          </a:p>
          <a:p>
            <a:pPr lvl="1"/>
            <a:r>
              <a:t>PAT ローテーション時は「接続の編集」から新トークンに更新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利用上の注意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運用前に貴社ご担当者へ共有ください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/>
            <a:r>
              <a:t>カラム名が日本語です（「案件名」「クローズ日」「合計金額」など）</a:t>
            </a:r>
          </a:p>
          <a:p>
            <a:pPr lvl="1"/>
            <a:r>
              <a:t>GUI 操作は問題なし。カスタム SQL では列名を二重引用符で囲む</a:t>
            </a:r>
          </a:p>
          <a:p>
            <a:pPr/>
            <a:r>
              <a:t>SVC_TABLEAU は参照専用（SELECT のみ）。書き込み・DDL 不可</a:t>
            </a:r>
          </a:p>
          <a:p>
            <a:pPr lvl="1"/>
            <a:r>
              <a:t>参照範囲は SALES データベースのマート層のみ</a:t>
            </a:r>
          </a:p>
          <a:p>
            <a:pPr/>
            <a:r>
              <a:t>英語カラム名が必要な場合</a:t>
            </a:r>
          </a:p>
          <a:p>
            <a:pPr lvl="1"/>
            <a:r>
              <a:t>ビュー SALES.ANALYTICS_MARTS.V_OPPORTUNITY_LINE_ITEM（英語エイリアス）も利用可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トラブルシューティング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7132320"/>
              </a:tblGrid>
              <a:tr h="5791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症状</a:t>
                      </a:r>
                    </a:p>
                  </a:txBody>
                  <a:tcPr marL="73152" marR="73152" marT="36576" marB="36576" anchor="ctr">
                    <a:solidFill>
                      <a:srgbClr val="5E91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原因 / 対処</a:t>
                      </a:r>
                    </a:p>
                  </a:txBody>
                  <a:tcPr marL="73152" marR="73152" marT="36576" marB="36576" anchor="ctr">
                    <a:solidFill>
                      <a:srgbClr val="5E913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Incorrect username or password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PAT の期限切れ、または前後の空白・改行混入。弊社へ再発行を依頼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ロールが選べない / not granted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PAT のロール制限と不一致。弊社へ連絡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IP address ... is not allowed to access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送信元 IP が許可リスト未登録。エラー中の IP を弊社へ連携し追加を依頼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ウェアハウスが起動しない / タイムアウト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SALES_WH は自動起動。初回は数秒待ち。再試行で解消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数値が想定と違う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03030"/>
                          </a:solidFill>
                        </a:rPr>
                        <a:t>マート仕様差異の可能性。弊社と数値突合を実施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PAT（アクセストークン）の運用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PAT には有効期限があり、定期的なローテーションが必要です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/>
            <a:r>
              <a:t>有効期限: 90 日</a:t>
            </a:r>
          </a:p>
          <a:p>
            <a:pPr/>
            <a:r>
              <a:t>ローテーション手順</a:t>
            </a:r>
          </a:p>
          <a:p>
            <a:pPr lvl="1"/>
            <a:r>
              <a:t>弊社が Snowflake で ROTATE を実行し、新トークンを発行</a:t>
            </a:r>
          </a:p>
          <a:p>
            <a:pPr lvl="1"/>
            <a:r>
              <a:t>旧トークンは 24 時間後に自動失効</a:t>
            </a:r>
          </a:p>
          <a:p>
            <a:pPr lvl="1"/>
            <a:r>
              <a:t>新トークンを貴社へ再連携</a:t>
            </a:r>
          </a:p>
          <a:p>
            <a:pPr lvl="1"/>
            <a:r>
              <a:t>貴社が Tableau データソースの「接続の編集」で新トークンに更新</a:t>
            </a:r>
          </a:p>
          <a:p>
            <a:pPr/>
            <a:r>
              <a:t>期限切れの兆候: データ更新失敗 / サインインエラー → 弊社へご連絡ください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付録. 弊社側 Snowflake 設定（Snowflake/sql/06_users.sql）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937760"/>
          </a:xfrm>
          <a:prstGeom prst="rect">
            <a:avLst/>
          </a:prstGeom>
          <a:solidFill>
            <a:srgbClr val="F6F6F6"/>
          </a:solidFill>
          <a:ln w="9525">
            <a:solidFill>
              <a:srgbClr val="A5A5A5"/>
            </a:solidFill>
          </a:ln>
        </p:spPr>
        <p:txBody>
          <a:bodyPr wrap="square" lIns="137160" tIns="109728">
            <a:spAutoFit/>
          </a:bodyPr>
          <a:lstStyle/>
          <a:p>
            <a:r>
              <a:rPr sz="1000">
                <a:solidFill>
                  <a:srgbClr val="303030"/>
                </a:solidFill>
                <a:latin typeface="Consolas"/>
              </a:rPr>
              <a:t>USE ROLE SECURITYADMIN;</a:t>
            </a:r>
          </a:p>
          <a:p>
            <a:r>
              <a:rPr sz="1000">
                <a:solidFill>
                  <a:srgbClr val="303030"/>
                </a:solidFill>
                <a:latin typeface="Consolas"/>
              </a:rPr>
              <a:t> </a:t>
            </a:r>
          </a:p>
          <a:p>
            <a:r>
              <a:rPr sz="1000">
                <a:solidFill>
                  <a:srgbClr val="303030"/>
                </a:solidFill>
                <a:latin typeface="Consolas"/>
              </a:rPr>
              <a:t>-- 1) サービスユーザー</a:t>
            </a:r>
          </a:p>
          <a:p>
            <a:r>
              <a:rPr sz="1000">
                <a:solidFill>
                  <a:srgbClr val="303030"/>
                </a:solidFill>
                <a:latin typeface="Consolas"/>
              </a:rPr>
              <a:t>CREATE USER IF NOT EXISTS SVC_TABLEAU</a:t>
            </a:r>
          </a:p>
          <a:p>
            <a:r>
              <a:rPr sz="1000">
                <a:solidFill>
                  <a:srgbClr val="303030"/>
                </a:solidFill>
                <a:latin typeface="Consolas"/>
              </a:rPr>
              <a:t>  TYPE = SERVICE  DEFAULT_ROLE = SALES_USER  DEFAULT_WAREHOUSE = SALES_WH;</a:t>
            </a:r>
          </a:p>
          <a:p>
            <a:r>
              <a:rPr sz="1000">
                <a:solidFill>
                  <a:srgbClr val="303030"/>
                </a:solidFill>
                <a:latin typeface="Consolas"/>
              </a:rPr>
              <a:t>GRANT ROLE SALES_USER TO USER SVC_TABLEAU;   -- 参照権限は SALES_USER → SALES__R</a:t>
            </a:r>
          </a:p>
          <a:p>
            <a:r>
              <a:rPr sz="1000">
                <a:solidFill>
                  <a:srgbClr val="303030"/>
                </a:solidFill>
                <a:latin typeface="Consolas"/>
              </a:rPr>
              <a:t> </a:t>
            </a:r>
          </a:p>
          <a:p>
            <a:r>
              <a:rPr sz="1000">
                <a:solidFill>
                  <a:srgbClr val="303030"/>
                </a:solidFill>
                <a:latin typeface="Consolas"/>
              </a:rPr>
              <a:t>-- 2) ネットワークポリシー（PAT の前提。貴社共有の Egress IP を許可）</a:t>
            </a:r>
          </a:p>
          <a:p>
            <a:r>
              <a:rPr sz="1000">
                <a:solidFill>
                  <a:srgbClr val="303030"/>
                </a:solidFill>
                <a:latin typeface="Consolas"/>
              </a:rPr>
              <a:t>CREATE NETWORK POLICY IF NOT EXISTS TABLEAU_PAT_NP</a:t>
            </a:r>
          </a:p>
          <a:p>
            <a:r>
              <a:rPr sz="1000">
                <a:solidFill>
                  <a:srgbClr val="303030"/>
                </a:solidFill>
                <a:latin typeface="Consolas"/>
              </a:rPr>
              <a:t>  ALLOWED_IP_LIST = ('&lt;貴社共有の IP/CIDR&gt;');</a:t>
            </a:r>
          </a:p>
          <a:p>
            <a:r>
              <a:rPr sz="1000">
                <a:solidFill>
                  <a:srgbClr val="303030"/>
                </a:solidFill>
                <a:latin typeface="Consolas"/>
              </a:rPr>
              <a:t>ALTER USER SVC_TABLEAU SET NETWORK_POLICY = TABLEAU_PAT_NP;</a:t>
            </a:r>
          </a:p>
          <a:p>
            <a:r>
              <a:rPr sz="1000">
                <a:solidFill>
                  <a:srgbClr val="303030"/>
                </a:solidFill>
                <a:latin typeface="Consolas"/>
              </a:rPr>
              <a:t> </a:t>
            </a:r>
          </a:p>
          <a:p>
            <a:r>
              <a:rPr sz="1000">
                <a:solidFill>
                  <a:srgbClr val="303030"/>
                </a:solidFill>
                <a:latin typeface="Consolas"/>
              </a:rPr>
              <a:t>-- 3) PAT 発行（Snowsight で手動実行。token_secret は発行時のみ表示）</a:t>
            </a:r>
          </a:p>
          <a:p>
            <a:r>
              <a:rPr sz="1000">
                <a:solidFill>
                  <a:srgbClr val="303030"/>
                </a:solidFill>
                <a:latin typeface="Consolas"/>
              </a:rPr>
              <a:t>ALTER USER IF EXISTS SVC_TABLEAU ADD PROGRAMMATIC ACCESS TOKEN TABLEAU_PAT</a:t>
            </a:r>
          </a:p>
          <a:p>
            <a:r>
              <a:rPr sz="1000">
                <a:solidFill>
                  <a:srgbClr val="303030"/>
                </a:solidFill>
                <a:latin typeface="Consolas"/>
              </a:rPr>
              <a:t>  ROLE_RESTRICTION = 'SALES_USER'  DAYS_TO_EXPIRY = 90;</a:t>
            </a:r>
          </a:p>
          <a:p>
            <a:r>
              <a:rPr sz="1000">
                <a:solidFill>
                  <a:srgbClr val="303030"/>
                </a:solidFill>
                <a:latin typeface="Consolas"/>
              </a:rPr>
              <a:t> </a:t>
            </a:r>
          </a:p>
          <a:p>
            <a:r>
              <a:rPr sz="1000">
                <a:solidFill>
                  <a:srgbClr val="303030"/>
                </a:solidFill>
                <a:latin typeface="Consolas"/>
              </a:rPr>
              <a:t>-- ローテーション</a:t>
            </a:r>
          </a:p>
          <a:p>
            <a:r>
              <a:rPr sz="1000">
                <a:solidFill>
                  <a:srgbClr val="303030"/>
                </a:solidFill>
                <a:latin typeface="Consolas"/>
              </a:rPr>
              <a:t>ALTER USER IF EXISTS SVC_TABLEAU ROTATE PROGRAMMATIC ACCESS TOKEN TABLEAU_PAT</a:t>
            </a:r>
          </a:p>
          <a:p>
            <a:r>
              <a:rPr sz="1000">
                <a:solidFill>
                  <a:srgbClr val="303030"/>
                </a:solidFill>
                <a:latin typeface="Consolas"/>
              </a:rPr>
              <a:t>  EXPIRE_ROTATED_TOKEN_AFTER_HOURS = 24;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ExtureTemplate 0.2">
  <a:themeElements>
    <a:clrScheme name="エクスチュアカラーパレット">
      <a:dk1>
        <a:srgbClr val="000000"/>
      </a:dk1>
      <a:lt1>
        <a:sysClr val="window" lastClr="FFFFFF"/>
      </a:lt1>
      <a:dk2>
        <a:srgbClr val="303030"/>
      </a:dk2>
      <a:lt2>
        <a:srgbClr val="D9D9D9"/>
      </a:lt2>
      <a:accent1>
        <a:srgbClr val="5E913B"/>
      </a:accent1>
      <a:accent2>
        <a:srgbClr val="C000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6FBA2C"/>
      </a:accent6>
      <a:hlink>
        <a:srgbClr val="0563C1"/>
      </a:hlink>
      <a:folHlink>
        <a:srgbClr val="034A90"/>
      </a:folHlink>
    </a:clrScheme>
    <a:fontScheme name="エクスチュア公式フォント定義">
      <a:majorFont>
        <a:latin typeface="源ノ角ゴシック JP"/>
        <a:ea typeface="源ノ角ゴシック JP"/>
        <a:cs typeface=""/>
      </a:majorFont>
      <a:minorFont>
        <a:latin typeface="源ノ角ゴシック JP"/>
        <a:ea typeface="源ノ角ゴシック J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 kumimoji="1" dirty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36000" tIns="0" rIns="0" bIns="36000" rtlCol="0">
        <a:spAutoFit/>
      </a:bodyPr>
      <a:lstStyle>
        <a:defPPr algn="l">
          <a:lnSpc>
            <a:spcPct val="120000"/>
          </a:lnSpc>
          <a:spcAft>
            <a:spcPts val="600"/>
          </a:spcAft>
          <a:defRPr kumimoji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エクスチュア標準テンプレート_20251208.pptx" id="{29A4DE28-D7FF-4B57-B58E-8B5C336C645D}" vid="{8F57F9AB-C065-485D-A882-CB66BAFDACBE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6494</Words>
  <Application>Microsoft Office PowerPoint</Application>
  <PresentationFormat>ワイド画面</PresentationFormat>
  <Paragraphs>1135</Paragraphs>
  <Slides>41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41</vt:i4>
      </vt:variant>
    </vt:vector>
  </HeadingPairs>
  <TitlesOfParts>
    <vt:vector size="50" baseType="lpstr">
      <vt:lpstr>HiraMaruProN-W4</vt:lpstr>
      <vt:lpstr>Noto Sans JP</vt:lpstr>
      <vt:lpstr>Söhne</vt:lpstr>
      <vt:lpstr>源ノ角ゴシック JP</vt:lpstr>
      <vt:lpstr>游ゴシック</vt:lpstr>
      <vt:lpstr>Arial</vt:lpstr>
      <vt:lpstr>Open Sans</vt:lpstr>
      <vt:lpstr>Wingdings</vt:lpstr>
      <vt:lpstr>ExtureTemplate 0.2</vt:lpstr>
      <vt:lpstr>エクスチュア公式パワーポイントテンプレート</vt:lpstr>
      <vt:lpstr>PowerPoint プレゼンテーション</vt:lpstr>
      <vt:lpstr>PowerPoint プレゼンテーション</vt:lpstr>
      <vt:lpstr>サンプル：簡易ブレスト・MTGのアジェンダ向け</vt:lpstr>
      <vt:lpstr>サンプル：提案書など単体で読まれる資料の目次</vt:lpstr>
      <vt:lpstr>標準スライド　タイトルフォントサイズ18pt</vt:lpstr>
      <vt:lpstr>標準スライド　タイトルフォントサイズ18pt</vt:lpstr>
      <vt:lpstr>サンプル　見出しスタイリング集</vt:lpstr>
      <vt:lpstr>テキストホルダーあり　タイトル＆リード文</vt:lpstr>
      <vt:lpstr>テキストホルダーあり　タイトル＆リード文＆結論①</vt:lpstr>
      <vt:lpstr>テキストホルダーあり　タイトル＆リード文＆結論②</vt:lpstr>
      <vt:lpstr>PowerPoint プレゼンテーション</vt:lpstr>
      <vt:lpstr>モバイル空間統計による来館データを用いた施設運営ダッシュボードで非会員含めたマーケティング施策を評価可能に </vt:lpstr>
      <vt:lpstr>PowerPoint プレゼンテーション</vt:lpstr>
      <vt:lpstr>PowerPoint プレゼンテーション</vt:lpstr>
      <vt:lpstr>PowerPoint プレゼンテーション</vt:lpstr>
      <vt:lpstr>フレームワーク：課題と対策整理 (AsIs ToBeでの一枚まとめ)</vt:lpstr>
      <vt:lpstr>フレームワーク：要求と要因整理</vt:lpstr>
      <vt:lpstr>フレームワーク：先方要件の再定義 / プロジェクト目的の整理</vt:lpstr>
      <vt:lpstr>パーツ集</vt:lpstr>
      <vt:lpstr>説明テキスト</vt:lpstr>
      <vt:lpstr>進行カレンダーサンプル</vt:lpstr>
      <vt:lpstr>自社ロゴ</vt:lpstr>
      <vt:lpstr>AWS関連ロゴ</vt:lpstr>
      <vt:lpstr>GCP関連ロゴ</vt:lpstr>
      <vt:lpstr>その他ロゴ</vt:lpstr>
      <vt:lpstr>サンプルスライド：ざっくりスケジュール（コメントとか入れやすい）</vt:lpstr>
      <vt:lpstr>（仮）顧客接点と取るべきアクションは膨大になっている</vt:lpstr>
      <vt:lpstr>デジタルマーケティング推進において取り組むべき項目一覧</vt:lpstr>
      <vt:lpstr>CDP関連ツール・ベンダーの成り立ち（エクスチュア解釈）</vt:lpstr>
      <vt:lpstr>01：実施作業報告</vt:lpstr>
      <vt:lpstr>サンプルスライド：事例紹介</vt:lpstr>
      <vt:lpstr>サンプルスライド：大枠スケジュール</vt:lpstr>
      <vt:lpstr>1  /   Dashboard</vt:lpstr>
      <vt:lpstr>サンプルスライド：システム概念図</vt:lpstr>
      <vt:lpstr>サンプルスライド：フェーズ内のタスクステップ整理</vt:lpstr>
      <vt:lpstr>体制図サンプルとか</vt:lpstr>
      <vt:lpstr>組織図　単一ツリー版　△三角レイアウト</vt:lpstr>
      <vt:lpstr>組織図　単一ツリー版　└罫線レイアウト</vt:lpstr>
      <vt:lpstr>担当者略歴</vt:lpstr>
      <vt:lpstr>サンプルスライド：御見積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エクスチュア公式パワーポイントテンプレート</dc:title>
  <dc:creator>Terunuma Takato / 照沼 敬斗（Exture）</dc:creator>
  <cp:keywords>template 1.0</cp:keywords>
  <cp:lastModifiedBy>Terunuma Takato / 照沼 敬斗（Exture）</cp:lastModifiedBy>
  <cp:revision>1</cp:revision>
  <dcterms:created xsi:type="dcterms:W3CDTF">2026-09-09T06:20:46Z</dcterms:created>
  <dcterms:modified xsi:type="dcterms:W3CDTF">2026-09-09T06:21:41Z</dcterms:modified>
</cp:coreProperties>
</file>